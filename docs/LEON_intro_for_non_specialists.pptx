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meeting, the project name, and the collaboration. Then move to the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agenda briefly, then start with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project definition. Then explain the three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Specification = Stellantis. Matrix = supplier declaration. TDR = technical evidence. The three must tell the same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does not replace the engineer; it highlights the points that require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LEON is a first analysis. The engineer remains accountable.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six functions, then detail specification, matrix and TDR.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two functions already produce a usable report before TDR cross-check.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contrast example. Mention version follow-up only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project part. Next: collaboration, status, training, 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Acknowledge both colleagues by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commit to a deployment date. Sequence: finish this phase, then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invent a training provider or date if not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for confirmation of TT Wednesday and Friday, and of the school period. Thank the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A9BCD4"/>
                </a:solidFill>
                <a:latin typeface="Calibri"/>
              </a:rPr>
              <a:t>STELLANTIS  ·  MECHATRONICS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515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D4ED8"/>
                </a:solidFill>
                <a:latin typeface="Calibri"/>
              </a:rPr>
              <a:t>STATUS MEETING  ·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Khadija Benhamida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E8EEFB"/>
                </a:solidFill>
                <a:latin typeface="Calibri"/>
              </a:rPr>
              <a:t>LEON — Quality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5D4E8"/>
                </a:solidFill>
                <a:latin typeface="Calibri"/>
              </a:rPr>
              <a:t>Application supporting the review of specifications, conformity matrices
and technical design dossiers (TDR).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310896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13632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A9BCD4"/>
                </a:solidFill>
                <a:latin typeface="Calibri"/>
              </a:rPr>
              <a:t>In collaboration with Imane El Brouji and Patrick Garcia
Mechatronics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92040"/>
            <a:ext cx="3108960" cy="1051560"/>
          </a:xfrm>
          <a:prstGeom prst="roundRect">
            <a:avLst>
              <a:gd name="adj" fmla="val 8000"/>
            </a:avLst>
          </a:prstGeom>
          <a:solidFill>
            <a:srgbClr val="153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892040"/>
            <a:ext cx="91440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010912"/>
            <a:ext cx="27432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SPEC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413248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9BCD4"/>
                </a:solidFill>
                <a:latin typeface="Calibri"/>
              </a:rPr>
              <a:t>Customer requirements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40" y="4892040"/>
            <a:ext cx="3108960" cy="1051560"/>
          </a:xfrm>
          <a:prstGeom prst="roundRect">
            <a:avLst>
              <a:gd name="adj" fmla="val 8000"/>
            </a:avLst>
          </a:prstGeom>
          <a:solidFill>
            <a:srgbClr val="153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77640" y="4892040"/>
            <a:ext cx="91440" cy="1051560"/>
          </a:xfrm>
          <a:prstGeom prst="rect">
            <a:avLst/>
          </a:prstGeom>
          <a:solidFill>
            <a:srgbClr val="9A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33672" y="5010912"/>
            <a:ext cx="27432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5413248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9BCD4"/>
                </a:solidFill>
                <a:latin typeface="Calibri"/>
              </a:rPr>
              <a:t>Supplier declaration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4892040"/>
            <a:ext cx="3108960" cy="1051560"/>
          </a:xfrm>
          <a:prstGeom prst="roundRect">
            <a:avLst>
              <a:gd name="adj" fmla="val 8000"/>
            </a:avLst>
          </a:prstGeom>
          <a:solidFill>
            <a:srgbClr val="153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4892040"/>
            <a:ext cx="91440" cy="1051560"/>
          </a:xfrm>
          <a:prstGeom prst="rect">
            <a:avLst/>
          </a:prstGeom>
          <a:solidFill>
            <a:srgbClr val="157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2" y="5010912"/>
            <a:ext cx="27432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TDR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2" y="5413248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9BCD4"/>
                </a:solidFill>
                <a:latin typeface="Calibri"/>
              </a:rPr>
              <a:t>Technical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2648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A9BCD4"/>
                </a:solidFill>
                <a:latin typeface="Calibri"/>
              </a:rPr>
              <a:t>Status: development in progress  ·  Team deployment after completion of this phase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9BCD4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Meeting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Project presentation, current status, and organisational 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53312"/>
            <a:ext cx="11247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53312"/>
            <a:ext cx="804672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53312"/>
            <a:ext cx="804672" cy="8046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426464"/>
            <a:ext cx="996696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737360"/>
            <a:ext cx="9966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Purpose of LEON, the three documents concerned, and the functions of the application.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12848"/>
            <a:ext cx="11247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212848"/>
            <a:ext cx="804672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12848"/>
            <a:ext cx="804672" cy="8046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286000"/>
            <a:ext cx="996696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Work completed to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596896"/>
            <a:ext cx="9966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Specification validation, conformity matrix analysis, Matrix ↔ TDR, TDR benchmark.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72384"/>
            <a:ext cx="11247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72384"/>
            <a:ext cx="804672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72384"/>
            <a:ext cx="804672" cy="8046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145536"/>
            <a:ext cx="996696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Collaboration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456432"/>
            <a:ext cx="9966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Working arrangement with Imane El Brouji and Patrick Garcia.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31920"/>
            <a:ext cx="11247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804672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931920"/>
            <a:ext cx="804672" cy="8046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005072"/>
            <a:ext cx="996696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Status and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315968"/>
            <a:ext cx="9966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Development in progress. Team access will follow completion of this phase.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91456"/>
            <a:ext cx="11247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791456"/>
            <a:ext cx="804672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791456"/>
            <a:ext cx="804672" cy="8046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864608"/>
            <a:ext cx="996696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AI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175504"/>
            <a:ext cx="9966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Upcoming training and expected use within Mechatronics Engineering.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650992"/>
            <a:ext cx="112471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650992"/>
            <a:ext cx="804672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650992"/>
            <a:ext cx="804672" cy="8046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724144"/>
            <a:ext cx="996696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Working arrangements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6035040"/>
            <a:ext cx="9966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Télétravail on Wednesday and Friday; first school period over the next two weeks.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A9BCD4"/>
                </a:solidFill>
                <a:latin typeface="Calibri"/>
              </a:rPr>
              <a:t>Khadija Benhamida  ·  Mechatronics Engineering  · 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 / 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9BCD4"/>
                </a:solidFill>
                <a:latin typeface="Calibri"/>
              </a:rPr>
              <a:t>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Purpose of LEON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A structured first analysis of supplier documentation for Mechatronics Engineering.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89888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89888"/>
            <a:ext cx="73152" cy="2240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517904"/>
            <a:ext cx="52212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847088"/>
            <a:ext cx="5221224" cy="1655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Reduce the time and the risk of a purely manual review of specifications, conformity matrices and TDR files, while keeping the technical decision with the engineer.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89888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389888"/>
            <a:ext cx="73152" cy="2240280"/>
          </a:xfrm>
          <a:prstGeom prst="rect">
            <a:avLst/>
          </a:prstGeom>
          <a:solidFill>
            <a:srgbClr val="123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517904"/>
            <a:ext cx="52212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847088"/>
            <a:ext cx="5221224" cy="1655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Customer Technical Specifications (CTS), FNR conformity matrices (Excel / ODS) and supplier technical dossiers (PowerPoint, PDF, Word).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794760"/>
            <a:ext cx="55321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794760"/>
            <a:ext cx="73152" cy="2514600"/>
          </a:xfrm>
          <a:prstGeom prst="rect">
            <a:avLst/>
          </a:prstGeom>
          <a:solidFill>
            <a:srgbClr val="157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922776"/>
            <a:ext cx="52212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Expected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251960"/>
            <a:ext cx="5221224" cy="1929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A first reading of the files: requirement status, inconsistencies, and the location of the supporting evidence.
Export of a colour-coded Excel report for the review meeting.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94760"/>
            <a:ext cx="55321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794760"/>
            <a:ext cx="73152" cy="2514600"/>
          </a:xfrm>
          <a:prstGeom prst="rect">
            <a:avLst/>
          </a:prstGeom>
          <a:solidFill>
            <a:srgbClr val="9A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922776"/>
            <a:ext cx="52212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Limit of the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4251960"/>
            <a:ext cx="5221224" cy="1929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LEON prepares the review. It does not approve a supplier and does not replace Quality, Purchasing or the responsible engineer.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A9BCD4"/>
                </a:solidFill>
                <a:latin typeface="Calibri"/>
              </a:rPr>
              <a:t>Khadija Benhamida  ·  Mechatronics Engineering  ·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 / 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9BCD4"/>
                </a:solidFill>
                <a:latin typeface="Calibri"/>
              </a:rP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Three documents must remain consistent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For each component, Stellantis requirements, the supplier declaration and the technical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36118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3611880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664208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1.  Specification (CTS)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377440"/>
            <a:ext cx="320040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Document issued by Stellantis.
It defines the requirements applicable to the component: performance, interfaces, environment, safety, quality.
It is the contractual reference of what “compliant” means.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417320"/>
            <a:ext cx="36118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417320"/>
            <a:ext cx="3611880" cy="109728"/>
          </a:xfrm>
          <a:prstGeom prst="rect">
            <a:avLst/>
          </a:prstGeom>
          <a:solidFill>
            <a:srgbClr val="9A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664208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2.  Conformity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377440"/>
            <a:ext cx="320040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Document completed by the supplier.
One row per requirement. Status OK, NOK (not compliant) or NA (not applicable), with a comment.
It is the official supplier declaration.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17320"/>
            <a:ext cx="36118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417320"/>
            <a:ext cx="3611880" cy="109728"/>
          </a:xfrm>
          <a:prstGeom prst="rect">
            <a:avLst/>
          </a:prstGeom>
          <a:solidFill>
            <a:srgbClr val="157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1664208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3.  TDR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377440"/>
            <a:ext cx="320040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Technical Design Review / technical dossier.
PowerPoint or PDF presenting architecture, values, tests and design choices.
It is the supporting evidence behind the declaration.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A9BCD4"/>
                </a:solidFill>
                <a:latin typeface="Calibri"/>
              </a:rPr>
              <a:t>Khadija Benhamida  ·  Mechatronics Engineering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 / 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9BCD4"/>
                </a:solidFill>
                <a:latin typeface="Calibri"/>
              </a:rPr>
              <a:t>WHY THE PROJECT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current review remains largely 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An OK status in Excel, or a complete TDR presentation, can still hide an inconsistency.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09728" cy="1115568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17904"/>
            <a:ext cx="10698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2545"/>
                </a:solidFill>
                <a:latin typeface="Calibri"/>
              </a:rPr>
              <a:t>Review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47088"/>
            <a:ext cx="106984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A specification, a matrix of several hundred rows and a TDR of several dozen slides are reviewed mainly by hand.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06040"/>
            <a:ext cx="112471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606040"/>
            <a:ext cx="109728" cy="1115568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52344"/>
            <a:ext cx="10698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2545"/>
                </a:solidFill>
                <a:latin typeface="Calibri"/>
              </a:rPr>
              <a:t>Incomplete declarations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81528"/>
            <a:ext cx="106984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A requirement marked OK with a comment such as “pending validation” or “partially covered” is not a confirmed conformity.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112471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109728" cy="1115568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86784"/>
            <a:ext cx="10698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2545"/>
                </a:solidFill>
                <a:latin typeface="Calibri"/>
              </a:rPr>
              <a:t>Inconsistency between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15968"/>
            <a:ext cx="106984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The matrix may declare OK while the TDR presents a value below the requirement (for example contrast ≥ 400:1 in the specification, 380:1 in the TDR).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074920"/>
            <a:ext cx="112471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074920"/>
            <a:ext cx="109728" cy="1115568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21224"/>
            <a:ext cx="10698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2545"/>
                </a:solidFill>
                <a:latin typeface="Calibri"/>
              </a:rPr>
              <a:t>Comparison of suppliers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50408"/>
            <a:ext cx="106984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Each supplier delivers a different dossier. A structured technical comparison on the same criteria is currently time-consuming.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A9BCD4"/>
                </a:solidFill>
                <a:latin typeface="Calibri"/>
              </a:rPr>
              <a:t>Khadija Benhamida  ·  Mechatronics Engineering  ·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 / 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9BCD4"/>
                </a:solidFill>
                <a:latin typeface="Calibri"/>
              </a:rPr>
              <a:t>THE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LEON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A browser-based application. Documents are uploaded; the first analysis is displayed; the engineer decides.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553212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73152" cy="4892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545336"/>
            <a:ext cx="52212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2545"/>
                </a:solidFill>
                <a:latin typeface="Calibri"/>
              </a:rPr>
              <a:t>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874520"/>
            <a:ext cx="5221224" cy="4306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Reads the specification, the conformity matrix and the TDR.
Identifies each requirement and its status (OK / NOK / NA).
Locates the corresponding evidence in the TDR (page or slide).
Highlights inconsistencies: contradictory comments, missing evidence, values that do not meet the requirement.
Produces an Excel report for the review meeting.
The technical validation remains a human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5321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73152" cy="228600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545336"/>
            <a:ext cx="52212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2545"/>
                </a:solidFill>
                <a:latin typeface="Calibri"/>
              </a:rPr>
              <a:t>Out of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874520"/>
            <a:ext cx="5221224" cy="1700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Automatic approval of a supplier.
Replacement of Quality, Purchasing or the responsible engineer.
A certificate of conformity.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553212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886200"/>
            <a:ext cx="73152" cy="2423160"/>
          </a:xfrm>
          <a:prstGeom prst="rect">
            <a:avLst/>
          </a:prstGeom>
          <a:solidFill>
            <a:srgbClr val="157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4014216"/>
            <a:ext cx="52212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2545"/>
                </a:solidFill>
                <a:latin typeface="Calibri"/>
              </a:rPr>
              <a:t>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343400"/>
            <a:ext cx="5221224" cy="1837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Mechatronics engineers in charge of a component.
Quality / FNR for the analysis of a conformity matrix.
Participants preparing a TDR review.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A9BCD4"/>
                </a:solidFill>
                <a:latin typeface="Calibri"/>
              </a:rPr>
              <a:t>Khadija Benhamida  ·  Mechatronics Engineering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 / 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9BCD4"/>
                </a:solidFill>
                <a:latin typeface="Calibri"/>
              </a:rPr>
              <a:t>THE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Six functions in a single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No installation is required for the reviewer. Only the relevant function is used.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89888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89888"/>
            <a:ext cx="3566160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645920"/>
            <a:ext cx="316382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Specification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395728"/>
            <a:ext cx="3163824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Checks completeness and writing quality of the CTS before it is issued.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389888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389888"/>
            <a:ext cx="3566160" cy="91440"/>
          </a:xfrm>
          <a:prstGeom prst="rect">
            <a:avLst/>
          </a:prstGeom>
          <a:solidFill>
            <a:srgbClr val="9A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645920"/>
            <a:ext cx="316382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Conformity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395728"/>
            <a:ext cx="3163824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Analyses supplier OK / NOK / NA statuses and flags inconsistent OK comments.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1389888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1389888"/>
            <a:ext cx="3566160" cy="91440"/>
          </a:xfrm>
          <a:prstGeom prst="rect">
            <a:avLst/>
          </a:prstGeom>
          <a:solidFill>
            <a:srgbClr val="123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1645920"/>
            <a:ext cx="316382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Matrix ↔ TDR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2395728"/>
            <a:ext cx="3163824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Compares the declaration in the matrix with the evidence in the TDR.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7947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794760"/>
            <a:ext cx="3566160" cy="91440"/>
          </a:xfrm>
          <a:prstGeom prst="rect">
            <a:avLst/>
          </a:prstGeom>
          <a:solidFill>
            <a:srgbClr val="157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050792"/>
            <a:ext cx="316382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TDR benchmark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800600"/>
            <a:ext cx="3163824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Compares several suppliers on the same technical criteria, excluding price.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7947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3794760"/>
            <a:ext cx="3566160" cy="91440"/>
          </a:xfrm>
          <a:prstGeom prst="rect">
            <a:avLst/>
          </a:prstGeom>
          <a:solidFill>
            <a:srgbClr val="5B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4050792"/>
            <a:ext cx="316382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Version follow-up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4800600"/>
            <a:ext cx="3163824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Identifies status and comment changes between successive matrix versions.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379476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9560" y="3794760"/>
            <a:ext cx="3566160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0728" y="4050792"/>
            <a:ext cx="316382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Evidence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8" y="4800600"/>
            <a:ext cx="3163824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Associates each requirement with the corresponding page or slide in the dossier.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A9BCD4"/>
                </a:solidFill>
                <a:latin typeface="Calibri"/>
              </a:rPr>
              <a:t>Khadija Benhamida  ·  Mechatronics Engineering  · 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 / 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9BCD4"/>
                </a:solidFill>
                <a:latin typeface="Calibri"/>
              </a:rPr>
              <a:t>PROJECT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Specification and conformity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Two analyses available before opening the TDR.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89888"/>
            <a:ext cx="5532120" cy="4919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89888"/>
            <a:ext cx="5532120" cy="4754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44752"/>
            <a:ext cx="521208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Specification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5074920" cy="4023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The CTS file is uploaded (Word, PDF or text).
LEON verifies:
• presence of mandatory sections (Purpose, Scope, Requirements…);
• remaining template placeholders (&lt;&lt;name&gt;&gt;, TBD, XXX);
• requirement identifiers and binding language (“shall”).
Output: a verdict (compliant / acceptable / not ready) and a Word report.
The empty conformity matrix can be generated from the specification, so that the supplier does not recreate the requirement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89888"/>
            <a:ext cx="5532120" cy="4919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389888"/>
            <a:ext cx="5532120" cy="475488"/>
          </a:xfrm>
          <a:prstGeom prst="rect">
            <a:avLst/>
          </a:prstGeom>
          <a:solidFill>
            <a:srgbClr val="9A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44752"/>
            <a:ext cx="521208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Conformity matrix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5074920" cy="4023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The supplier matrix is uploaded (Excel / ODS), including files with renamed columns.
LEON counts OK / NOK / NA statuses and presents the full requirement list.
Each OK comment is reviewed. A point of attention is raised when:
• the comment contradicts the status;
• conformity is partial or still pending.
Output: a colour-coded Excel report (green / red / grey) for the meeting.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A9BCD4"/>
                </a:solidFill>
                <a:latin typeface="Calibri"/>
              </a:rPr>
              <a:t>Khadija Benhamida  ·  Mechatronics Engineering  ·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 / 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9BCD4"/>
                </a:solidFill>
                <a:latin typeface="Calibri"/>
              </a:rPr>
              <a:t>PROJECT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Matrix versus TDR, and supplier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The TDR is the evidence. LEON compares the declaration with that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53312"/>
            <a:ext cx="11338560" cy="1234440"/>
          </a:xfrm>
          <a:prstGeom prst="roundRect">
            <a:avLst>
              <a:gd name="adj" fmla="val 8000"/>
            </a:avLst>
          </a:prstGeom>
          <a:solidFill>
            <a:srgbClr val="FBF3E6"/>
          </a:solidFill>
          <a:ln w="12700">
            <a:solidFill>
              <a:srgbClr val="9A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9A5B00"/>
                </a:solidFill>
                <a:latin typeface="Calibri"/>
              </a:rPr>
              <a:t>Example of inconsistency  —  display contrast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1097280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Requirement: contrast ≥ 400:1     ·     Matrix: OK     ·     TDR, slide 14: 380:1
LEON presents this type of inconsistency first. Consistent requirements are not listed by default.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761488"/>
            <a:ext cx="553212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761488"/>
            <a:ext cx="73152" cy="3520440"/>
          </a:xfrm>
          <a:prstGeom prst="rect">
            <a:avLst/>
          </a:prstGeom>
          <a:solidFill>
            <a:srgbClr val="123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889504"/>
            <a:ext cx="52212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Matrix ↔ TDR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218688"/>
            <a:ext cx="5221224" cy="29352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The matrix and the TDR (PowerPoint, PDF or Word) are uploaded together.
For each requirement, four elements are displayed: the Stellantis requirement, the matrix declaration, the TDR statement, and the source page or slide.
The engineer confirms, corrects or requests additional evidence. No result is accepted automatically.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61488"/>
            <a:ext cx="553212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761488"/>
            <a:ext cx="73152" cy="3520440"/>
          </a:xfrm>
          <a:prstGeom prst="rect">
            <a:avLst/>
          </a:prstGeom>
          <a:solidFill>
            <a:srgbClr val="157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889504"/>
            <a:ext cx="52212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TDR 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218688"/>
            <a:ext cx="5221224" cy="29352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C2B3A"/>
                </a:solidFill>
                <a:latin typeface="Calibri"/>
              </a:rPr>
              <a:t>Several supplier dossiers are compared on the same technical domains (mechanics, display, electronics, safety, software, validation, industrialisation).
Commercial content is excluded.
The output is a structured comparison of strengths, gaps and open points. Supplier selection remains a human decision.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A9BCD4"/>
                </a:solidFill>
                <a:latin typeface="Calibri"/>
              </a:rPr>
              <a:t>Khadija Benhamida  ·  Mechatronics Engineering  ·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 / 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9BCD4"/>
                </a:solidFill>
                <a:latin typeface="Calibri"/>
              </a:rPr>
              <a:t>WORK COMPLETED TO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Current capabilities of LEON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The functions below are implemented. Technical acceptance remains with the engineer.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09728" cy="960120"/>
          </a:xfrm>
          <a:prstGeom prst="rect">
            <a:avLst/>
          </a:prstGeom>
          <a:solidFill>
            <a:srgbClr val="157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81328"/>
            <a:ext cx="10698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Browser-based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10512"/>
            <a:ext cx="10698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Specification, matrix and TDR are uploaded in the application. No installation is required for the reviewer.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2316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23160"/>
            <a:ext cx="109728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32888"/>
            <a:ext cx="10698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Detection of inconsistencies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62072"/>
            <a:ext cx="10698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Contradictory OK comments, missing evidence, non-compliant values, and changes between matrix versions.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109728" cy="960120"/>
          </a:xfrm>
          <a:prstGeom prst="rect">
            <a:avLst/>
          </a:prstGeom>
          <a:solidFill>
            <a:srgbClr val="9A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84448"/>
            <a:ext cx="10698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Export for the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13632"/>
            <a:ext cx="10698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Colour-coded Excel reports for Quality, Purchasing or the supplier.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2628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526280"/>
            <a:ext cx="109728" cy="960120"/>
          </a:xfrm>
          <a:prstGeom prst="rect">
            <a:avLst/>
          </a:prstGeom>
          <a:solidFill>
            <a:srgbClr val="123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36008"/>
            <a:ext cx="10698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No automatic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965192"/>
            <a:ext cx="1069848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Absence of a detected inconsistency is not a certificate of conformity.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23560"/>
            <a:ext cx="11247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LEON provides a structured first reading of the specification, the matrix and the TDR, so that review meetings start from identified inconsistencies.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A9BCD4"/>
                </a:solidFill>
                <a:latin typeface="Calibri"/>
              </a:rPr>
              <a:t>Khadija Benhamida  ·  Mechatronics Engineering  ·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 / 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9BCD4"/>
                </a:solidFill>
                <a:latin typeface="Calibri"/>
              </a:rPr>
              <a:t>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Working arrangement within Mechatronics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Imane El Brouji and Patrick Garcia provide the domain input. Development of LEON is carried out on that basis.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89888"/>
            <a:ext cx="55321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89888"/>
            <a:ext cx="5532120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B2545"/>
                </a:solidFill>
                <a:latin typeface="Calibri"/>
              </a:rPr>
              <a:t>Imane El Brouji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84831"/>
            <a:ext cx="5074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D4ED8"/>
                </a:solidFill>
                <a:latin typeface="Calibri"/>
              </a:rPr>
              <a:t>Mechatronics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50749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C2B3A"/>
                </a:solidFill>
                <a:latin typeface="Calibri"/>
              </a:rPr>
              <a:t>Defines the operational needs of the team, the documents actually received, and the analyses that are useful during a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89888"/>
            <a:ext cx="55321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89888"/>
            <a:ext cx="5532120" cy="109728"/>
          </a:xfrm>
          <a:prstGeom prst="rect">
            <a:avLst/>
          </a:prstGeom>
          <a:solidFill>
            <a:srgbClr val="157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45920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B2545"/>
                </a:solidFill>
                <a:latin typeface="Calibri"/>
              </a:rPr>
              <a:t>Patrick Garcia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84831"/>
            <a:ext cx="5074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57347"/>
                </a:solidFill>
                <a:latin typeface="Calibri"/>
              </a:rPr>
              <a:t>Mechatronics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507492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C2B3A"/>
                </a:solidFill>
                <a:latin typeface="Calibri"/>
              </a:rPr>
              <a:t>Provides the mechatronics context: use of the specification, the matrix and the TDR, and the expected content of a technical review.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800600"/>
            <a:ext cx="11292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800600"/>
            <a:ext cx="109728" cy="1554480"/>
          </a:xfrm>
          <a:prstGeom prst="rect">
            <a:avLst/>
          </a:prstGeom>
          <a:solidFill>
            <a:srgbClr val="123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10698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Division of roles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21808"/>
            <a:ext cx="106984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C2B3A"/>
                </a:solidFill>
                <a:latin typeface="Calibri"/>
              </a:rPr>
              <a:t>They provide the ideas and the technical meaning. I implement and iterate on LEON. The application is designed from mechatronics practice, not as a standalone IT development.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A9BCD4"/>
                </a:solidFill>
                <a:latin typeface="Calibri"/>
              </a:rPr>
              <a:t>Khadija Benhamida  ·  Mechatronics Engineering  ·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 / 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9BCD4"/>
                </a:solidFill>
                <a:latin typeface="Calibri"/>
              </a:rPr>
              <a:t>STATUS AND 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Development in progress — then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Access for the whole team will be opened after completion of this phase.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3703320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3703320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D4ED8"/>
                </a:solidFill>
                <a:latin typeface="Calibri"/>
              </a:rPr>
              <a:t>01  Current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84831"/>
            <a:ext cx="3246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2545"/>
                </a:solidFill>
                <a:latin typeface="Calibri"/>
              </a:rPr>
              <a:t>In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3246120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Completion of the functions presented: specification, matrix, Matrix ↔ TDR and TDR benchmark.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417320"/>
            <a:ext cx="3703320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417320"/>
            <a:ext cx="3703320" cy="109728"/>
          </a:xfrm>
          <a:prstGeom prst="rect">
            <a:avLst/>
          </a:prstGeom>
          <a:solidFill>
            <a:srgbClr val="9A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69164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9A5B00"/>
                </a:solidFill>
                <a:latin typeface="Calibri"/>
              </a:rPr>
              <a:t>02 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084831"/>
            <a:ext cx="3246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2545"/>
                </a:solidFill>
                <a:latin typeface="Calibri"/>
              </a:rPr>
              <a:t>Close this 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971800"/>
            <a:ext cx="3246120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Remaining development, tests on representative mechatronics files, alignment with Imane El Brouji and Patrick Garcia.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3703320" cy="370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417320"/>
            <a:ext cx="3703320" cy="109728"/>
          </a:xfrm>
          <a:prstGeom prst="rect">
            <a:avLst/>
          </a:prstGeom>
          <a:solidFill>
            <a:srgbClr val="157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69164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57347"/>
                </a:solidFill>
                <a:latin typeface="Calibri"/>
              </a:rPr>
              <a:t>03  Then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084831"/>
            <a:ext cx="3246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2545"/>
                </a:solidFill>
                <a:latin typeface="Calibri"/>
              </a:rPr>
              <a:t>Team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971800"/>
            <a:ext cx="3246120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Once this phase is completed, deployment will start so that Mechatronics Engineering can use LEON in a browser, without installation.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303520"/>
            <a:ext cx="11292840" cy="1078992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2700">
            <a:solidFill>
              <a:srgbClr val="157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108813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Target: any colleague who reviews a specification, a matrix or a TDR can use LEON.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A9BCD4"/>
                </a:solidFill>
                <a:latin typeface="Calibri"/>
              </a:rPr>
              <a:t>Khadija Benhamida  ·  Mechatronics Engineering  ·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 / 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9BCD4"/>
                </a:solidFill>
                <a:latin typeface="Calibri"/>
              </a:rPr>
              <a:t>UPCOMING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AI training for Mechatronics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Operational training on the use of AI in daily document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89888"/>
            <a:ext cx="5532120" cy="4919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89888"/>
            <a:ext cx="73152" cy="4919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517904"/>
            <a:ext cx="52212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2545"/>
                </a:solidFill>
                <a:latin typeface="Calibri"/>
              </a:rPr>
              <a:t>Objectives of the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847088"/>
            <a:ext cx="5221224" cy="43342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Clarify what AI can and cannot do on specifications, matrices and TDR files.
Position a tool such as LEON as a first analysis, not as a substitute for the engineer.
Establish a common practice: where AI reduces review time, and where a technical decision is required.
Use examples drawn from mechatronics documents.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89888"/>
            <a:ext cx="5532120" cy="4919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389888"/>
            <a:ext cx="73152" cy="4919472"/>
          </a:xfrm>
          <a:prstGeom prst="rect">
            <a:avLst/>
          </a:prstGeom>
          <a:solidFill>
            <a:srgbClr val="157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517904"/>
            <a:ext cx="52212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2545"/>
                </a:solidFill>
                <a:latin typeface="Calibri"/>
              </a:rPr>
              <a:t>Expected use in the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847088"/>
            <a:ext cx="5221224" cy="43342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B3A"/>
                </a:solidFill>
                <a:latin typeface="Calibri"/>
              </a:rPr>
              <a:t>Faster preparation of a TDR review.
Fewer OK declarations accepted despite a contradictory comment.
Structured comparison of several suppliers on technical criteria.
Rule of use: the application proposes; the engineer validates.
A short feedback to the team can be prepared after the training.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A9BCD4"/>
                </a:solidFill>
                <a:latin typeface="Calibri"/>
              </a:rPr>
              <a:t>Khadija Benhamida  ·  Mechatronics Engineering  ·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  /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A9BCD4"/>
                </a:solidFill>
                <a:latin typeface="Calibri"/>
              </a:rPr>
              <a:t>WORKING ARRANGEMENTS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2471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Points submitted for confirmation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5D4E8"/>
                </a:solidFill>
                <a:latin typeface="Calibri"/>
              </a:rPr>
              <a:t>Télétravail and first school period.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89888"/>
            <a:ext cx="553212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89888"/>
            <a:ext cx="5532120" cy="4754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44752"/>
            <a:ext cx="521208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Télétravail (TT)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5074920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B3A"/>
                </a:solidFill>
                <a:latin typeface="Calibri"/>
              </a:rPr>
              <a:t>Proposed weekly pattern: two days of télétravail.
• Wednesday
• Friday
This pattern is submitted for confirmation, so that on-site presence is clear for the team.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89888"/>
            <a:ext cx="553212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389888"/>
            <a:ext cx="5532120" cy="475488"/>
          </a:xfrm>
          <a:prstGeom prst="rect">
            <a:avLst/>
          </a:prstGeom>
          <a:solidFill>
            <a:srgbClr val="9A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44752"/>
            <a:ext cx="521208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Période école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5074920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B3A"/>
                </a:solidFill>
                <a:latin typeface="Calibri"/>
              </a:rPr>
              <a:t>The next two weeks correspond to the first school period (période école).
Presence on site is not planned during that period.
The usual company / TT pattern resumes afterwards.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956048"/>
            <a:ext cx="11292840" cy="1389888"/>
          </a:xfrm>
          <a:prstGeom prst="roundRect">
            <a:avLst>
              <a:gd name="adj" fmla="val 8000"/>
            </a:avLst>
          </a:prstGeom>
          <a:solidFill>
            <a:srgbClr val="FBF3E6"/>
          </a:solidFill>
          <a:ln w="12700">
            <a:solidFill>
              <a:srgbClr val="9A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02352"/>
            <a:ext cx="10881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9A5B00"/>
                </a:solidFill>
                <a:latin typeface="Calibri"/>
              </a:rPr>
              <a:t>Submitted for your confirmation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86400"/>
            <a:ext cx="10881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C2B3A"/>
                </a:solidFill>
                <a:latin typeface="Calibri"/>
              </a:rPr>
              <a:t>Both points can be adjusted if a different organisation is required.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01968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A9BCD4"/>
                </a:solidFill>
                <a:latin typeface="Calibri"/>
              </a:rPr>
              <a:t>Khadija Benhamida  ·  Mechatronics Engineering  ·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  /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