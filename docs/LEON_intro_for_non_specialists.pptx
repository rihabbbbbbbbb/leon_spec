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Bonjour. This is my first meeting with you.</a:t>
            </a:r>
          </a:p>
          <a:p>
            <a:r>
              <a:t>I will present the work I am doing on LEON, the people I work with on the mechatronics side, the next step (deployment), the AI training, and two points of availability I would like to confirm with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agenda in 20 seconds. Then go to the three documents.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Spend time here. Most confusion later comes from mixing these three names.</a:t>
            </a:r>
          </a:p>
          <a:p>
            <a:r>
              <a:t>SPEC = us. MATRIX = their checklist. TDR = their technical brochure.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punchline: we are not replacing the engineer. We are catching the misses.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someone asks “is it AI?”, answer: it is a reading assistant. Some checks are simple rules (count the sections, compare two numbers). A person always remains responsible.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tabs left to right as the project timeline:</a:t>
            </a:r>
          </a:p>
          <a:p>
            <a:r>
              <a:t>write spec → send matrix → receive filled matrix + TDR → compare suppliers → track versions.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path: drop a matrix, show the pie, then open one red “point of attention”.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the example. Non-specialists remember one number (400 vs 380) better than a process.</a:t>
            </a:r>
          </a:p>
          <a:p>
            <a:r>
              <a:t>Mention Version Delta only if asked: it shows NOK→OK between two Excel versions.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close of the product part. Next slides: people, status, training, availability.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Imane and Patrick by name. Make clear you are the builder, they are the mechatronics experts. The manager should see you are not isolated.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clear: it is not live for everyone yet. Do not promise a date you do not have. The commitment is: finish this task, then deploy.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 manager asks for the date or the provider, say you will confirm — do not invent a catalogue name. The message is: the team will be trained to use AI on our work, with the engineer remaining responsible.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clearly for confirmation. Do not rush. TT = mercredi et vendredi. Next two weeks = first school period. Then thank the manager for the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5156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A9BCD4"/>
                </a:solidFill>
                <a:latin typeface="Calibri"/>
              </a:rPr>
              <a:t>STELLANTIS  ·  MECHATRONICS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05156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1D4ED8"/>
                </a:solidFill>
                <a:latin typeface="Calibri"/>
              </a:rPr>
              <a:t>FIRST MEETING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Khadija Benhamida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E8EEFB"/>
                </a:solidFill>
                <a:latin typeface="Calibri"/>
              </a:rPr>
              <a:t>LEON — Quality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107899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C5D4E8"/>
                </a:solidFill>
                <a:latin typeface="Calibri"/>
              </a:rPr>
              <a:t>Review of specifications, conformity matrices and technical dossiers (TDR)
for the Mechatronics team.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703320"/>
            <a:ext cx="3108960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913632"/>
            <a:ext cx="107899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A9BCD4"/>
                </a:solidFill>
                <a:latin typeface="Calibri"/>
              </a:rPr>
              <a:t>In collaboration with Imane El Brouji and Patrick Garcia
October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892040"/>
            <a:ext cx="3108960" cy="1051560"/>
          </a:xfrm>
          <a:prstGeom prst="roundRect">
            <a:avLst>
              <a:gd name="adj" fmla="val 8000"/>
            </a:avLst>
          </a:prstGeom>
          <a:solidFill>
            <a:srgbClr val="1538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4892040"/>
            <a:ext cx="91440" cy="105156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010912"/>
            <a:ext cx="274320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SPEC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5413248"/>
            <a:ext cx="2743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A9BCD4"/>
                </a:solidFill>
                <a:latin typeface="Calibri"/>
              </a:rPr>
              <a:t>What we ask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77640" y="4892040"/>
            <a:ext cx="3108960" cy="1051560"/>
          </a:xfrm>
          <a:prstGeom prst="roundRect">
            <a:avLst>
              <a:gd name="adj" fmla="val 8000"/>
            </a:avLst>
          </a:prstGeom>
          <a:solidFill>
            <a:srgbClr val="1538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77640" y="4892040"/>
            <a:ext cx="91440" cy="1051560"/>
          </a:xfrm>
          <a:prstGeom prst="rect">
            <a:avLst/>
          </a:prstGeom>
          <a:solidFill>
            <a:srgbClr val="9A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33672" y="5010912"/>
            <a:ext cx="274320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MATRIX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33672" y="5413248"/>
            <a:ext cx="2743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A9BCD4"/>
                </a:solidFill>
                <a:latin typeface="Calibri"/>
              </a:rPr>
              <a:t>What they tick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0" y="4892040"/>
            <a:ext cx="3108960" cy="1051560"/>
          </a:xfrm>
          <a:prstGeom prst="roundRect">
            <a:avLst>
              <a:gd name="adj" fmla="val 8000"/>
            </a:avLst>
          </a:prstGeom>
          <a:solidFill>
            <a:srgbClr val="1538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0" y="4892040"/>
            <a:ext cx="91440" cy="1051560"/>
          </a:xfrm>
          <a:prstGeom prst="rect">
            <a:avLst/>
          </a:prstGeom>
          <a:solidFill>
            <a:srgbClr val="157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71232" y="5010912"/>
            <a:ext cx="274320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TDR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71232" y="5413248"/>
            <a:ext cx="2743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A9BCD4"/>
                </a:solidFill>
                <a:latin typeface="Calibri"/>
              </a:rPr>
              <a:t>What they prove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126480"/>
            <a:ext cx="107899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A9BCD4"/>
                </a:solidFill>
                <a:latin typeface="Calibri"/>
              </a:rPr>
              <a:t>Project in progress  ·  Deployment for the whole team once this step is finished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A9BCD4"/>
                </a:solidFill>
                <a:latin typeface="Calibri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2471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Points I would like to cover with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C5D4E8"/>
                </a:solidFill>
                <a:latin typeface="Calibri"/>
              </a:rPr>
              <a:t>A short status of the work, then the practical points to confirm.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53312"/>
            <a:ext cx="1124712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53312"/>
            <a:ext cx="804672" cy="80467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353312"/>
            <a:ext cx="804672" cy="8046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1426464"/>
            <a:ext cx="996696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545"/>
                </a:solidFill>
                <a:latin typeface="Calibri"/>
              </a:rPr>
              <a:t>The work on LEON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1737360"/>
            <a:ext cx="99669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C2B3A"/>
                </a:solidFill>
                <a:latin typeface="Calibri"/>
              </a:rPr>
              <a:t>The three documents we review, the tool I am building, and what it already does.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212848"/>
            <a:ext cx="1124712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212848"/>
            <a:ext cx="804672" cy="80467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212848"/>
            <a:ext cx="804672" cy="8046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2286000"/>
            <a:ext cx="996696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545"/>
                </a:solidFill>
                <a:latin typeface="Calibri"/>
              </a:rPr>
              <a:t>What I have delivered so far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2596896"/>
            <a:ext cx="99669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C2B3A"/>
                </a:solidFill>
                <a:latin typeface="Calibri"/>
              </a:rPr>
              <a:t>Spec validation, conformity matrix, Matrix ↔ TDR, TDR benchmark, version follow-up.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072384"/>
            <a:ext cx="1124712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072384"/>
            <a:ext cx="804672" cy="80467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072384"/>
            <a:ext cx="804672" cy="8046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3145536"/>
            <a:ext cx="996696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545"/>
                </a:solidFill>
                <a:latin typeface="Calibri"/>
              </a:rPr>
              <a:t>Collaboration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3456432"/>
            <a:ext cx="99669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C2B3A"/>
                </a:solidFill>
                <a:latin typeface="Calibri"/>
              </a:rPr>
              <a:t>Imane El Brouji and Patrick Garcia — mechatronics expertise, ideas and explanations.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931920"/>
            <a:ext cx="1124712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931920"/>
            <a:ext cx="804672" cy="80467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931920"/>
            <a:ext cx="804672" cy="8046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4005072"/>
            <a:ext cx="996696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545"/>
                </a:solidFill>
                <a:latin typeface="Calibri"/>
              </a:rPr>
              <a:t>Status and next step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7320" y="4315968"/>
            <a:ext cx="99669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C2B3A"/>
                </a:solidFill>
                <a:latin typeface="Calibri"/>
              </a:rPr>
              <a:t>Work in progress. Once this task is finished, we start the deployment for the team.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791456"/>
            <a:ext cx="1124712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791456"/>
            <a:ext cx="804672" cy="80467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791456"/>
            <a:ext cx="804672" cy="8046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20" y="4864608"/>
            <a:ext cx="996696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545"/>
                </a:solidFill>
                <a:latin typeface="Calibri"/>
              </a:rPr>
              <a:t>AI training for Mechatronics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17320" y="5175504"/>
            <a:ext cx="99669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C2B3A"/>
                </a:solidFill>
                <a:latin typeface="Calibri"/>
              </a:rPr>
              <a:t>The training we will have, and how the team can use it in daily work.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650992"/>
            <a:ext cx="1124712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650992"/>
            <a:ext cx="804672" cy="80467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5650992"/>
            <a:ext cx="804672" cy="8046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5724144"/>
            <a:ext cx="996696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545"/>
                </a:solidFill>
                <a:latin typeface="Calibri"/>
              </a:rPr>
              <a:t>Availability to confirm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20" y="6035040"/>
            <a:ext cx="99669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C2B3A"/>
                </a:solidFill>
                <a:latin typeface="Calibri"/>
              </a:rPr>
              <a:t>Télétravail Wednesday and Friday, and the first school period over the next two weeks.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A9BCD4"/>
                </a:solidFill>
                <a:latin typeface="Calibri"/>
              </a:rPr>
              <a:t>Khadija Benhamida  ·  Mechatronics Engineering  ·  First meeting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2  / 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A9BCD4"/>
                </a:solidFill>
                <a:latin typeface="Calibri"/>
              </a:rPr>
              <a:t>THE VOCABULARY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2471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Three documents. One part. They must agree.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C5D4E8"/>
                </a:solidFill>
                <a:latin typeface="Calibri"/>
              </a:rPr>
              <a:t>Think of buying a car screen, a camera or a controller from a supplier.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417320"/>
            <a:ext cx="3611880" cy="4892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417320"/>
            <a:ext cx="3611880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664208"/>
            <a:ext cx="3200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B2545"/>
                </a:solidFill>
                <a:latin typeface="Calibri"/>
              </a:rPr>
              <a:t>1.  The SPEC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2194560"/>
            <a:ext cx="3200400" cy="3840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2B3A"/>
                </a:solidFill>
                <a:latin typeface="Calibri"/>
              </a:rPr>
              <a:t>What Stellantis writes.
Our technical specification: every requirement the part must meet (brightness, temperature, safety, interfaces…).
This is our “shopping list” — and the contract of what “good” means.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1417320"/>
            <a:ext cx="3611880" cy="4892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06240" y="1417320"/>
            <a:ext cx="3611880" cy="109728"/>
          </a:xfrm>
          <a:prstGeom prst="rect">
            <a:avLst/>
          </a:prstGeom>
          <a:solidFill>
            <a:srgbClr val="9A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8" y="1664208"/>
            <a:ext cx="3200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B2545"/>
                </a:solidFill>
                <a:latin typeface="Calibri"/>
              </a:rPr>
              <a:t>2.  The MATRIX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2194560"/>
            <a:ext cx="3200400" cy="3840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2B3A"/>
                </a:solidFill>
                <a:latin typeface="Calibri"/>
              </a:rPr>
              <a:t>What the supplier ticks.
A big Excel / ODS spreadsheet. One row per requirement. The supplier marks OK, NOK (not OK) or NA (not applicable), plus a comment.
This is their official yes / no.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1417320"/>
            <a:ext cx="3611880" cy="4892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000" y="1417320"/>
            <a:ext cx="3611880" cy="109728"/>
          </a:xfrm>
          <a:prstGeom prst="rect">
            <a:avLst/>
          </a:prstGeom>
          <a:solidFill>
            <a:srgbClr val="157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02168" y="1664208"/>
            <a:ext cx="3200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B2545"/>
                </a:solidFill>
                <a:latin typeface="Calibri"/>
              </a:rPr>
              <a:t>3.  The TDR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2168" y="2194560"/>
            <a:ext cx="3200400" cy="3840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2B3A"/>
                </a:solidFill>
                <a:latin typeface="Calibri"/>
              </a:rPr>
              <a:t>What the supplier shows as proof.
TDR = Technical Design Review / technical dossier. Usually a PowerPoint or PDF: drawings, numbers, tests, architecture.
This is their “here is how we actually do it”.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A9BCD4"/>
                </a:solidFill>
                <a:latin typeface="Calibri"/>
              </a:rPr>
              <a:t>Khadija Benhamida  ·  Mechatronics Engineering  ·  First meeting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3  / 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A9BCD4"/>
                </a:solidFill>
                <a:latin typeface="Calibri"/>
              </a:rPr>
              <a:t>WHY WE BUILT THIS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2471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Today this is still a lot of reading by hand.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C5D4E8"/>
                </a:solidFill>
                <a:latin typeface="Calibri"/>
              </a:rPr>
              <a:t>A “green” Excel can hide a problem. A nice slide can hide a wrong number.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1124712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109728" cy="1115568"/>
          </a:xfrm>
          <a:prstGeom prst="rect">
            <a:avLst/>
          </a:prstGeom>
          <a:solidFill>
            <a:srgbClr val="B3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17904"/>
            <a:ext cx="106984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B2545"/>
                </a:solidFill>
                <a:latin typeface="Calibri"/>
              </a:rPr>
              <a:t>Slow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847088"/>
            <a:ext cx="106984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2B3A"/>
                </a:solidFill>
                <a:latin typeface="Calibri"/>
              </a:rPr>
              <a:t>Hundreds of rows in Excel, dozens of slides, a long spec. A careful review takes a long time.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06040"/>
            <a:ext cx="1124712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606040"/>
            <a:ext cx="109728" cy="1115568"/>
          </a:xfrm>
          <a:prstGeom prst="rect">
            <a:avLst/>
          </a:prstGeom>
          <a:solidFill>
            <a:srgbClr val="B3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752344"/>
            <a:ext cx="106984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B2545"/>
                </a:solidFill>
                <a:latin typeface="Calibri"/>
              </a:rPr>
              <a:t>Easy to miss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081528"/>
            <a:ext cx="106984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2B3A"/>
                </a:solidFill>
                <a:latin typeface="Calibri"/>
              </a:rPr>
              <a:t>A row marked OK with the comment “pending validation” is not really OK. Humans skip comments when they are tired.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840480"/>
            <a:ext cx="1124712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840480"/>
            <a:ext cx="109728" cy="1115568"/>
          </a:xfrm>
          <a:prstGeom prst="rect">
            <a:avLst/>
          </a:prstGeom>
          <a:solidFill>
            <a:srgbClr val="B3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986784"/>
            <a:ext cx="106984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B2545"/>
                </a:solidFill>
                <a:latin typeface="Calibri"/>
              </a:rPr>
              <a:t>Easy to contradict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315968"/>
            <a:ext cx="106984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2B3A"/>
                </a:solidFill>
                <a:latin typeface="Calibri"/>
              </a:rPr>
              <a:t>The matrix says contrast ≥ 400:1 is OK. The TDR slide shows 380:1. Those two files were never put side by side.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074920"/>
            <a:ext cx="1124712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5074920"/>
            <a:ext cx="109728" cy="1115568"/>
          </a:xfrm>
          <a:prstGeom prst="rect">
            <a:avLst/>
          </a:prstGeom>
          <a:solidFill>
            <a:srgbClr val="B3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221224"/>
            <a:ext cx="106984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B2545"/>
                </a:solidFill>
                <a:latin typeface="Calibri"/>
              </a:rPr>
              <a:t>Hard to compare suppliers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550408"/>
            <a:ext cx="106984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2B3A"/>
                </a:solidFill>
                <a:latin typeface="Calibri"/>
              </a:rPr>
              <a:t>Each supplier sends their own PowerPoint. Comparing three offers on the same technical points is a weekend of work.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A9BCD4"/>
                </a:solidFill>
                <a:latin typeface="Calibri"/>
              </a:rPr>
              <a:t>Khadija Benhamida  ·  Mechatronics Engineering  ·  First meeting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4  / 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A9BCD4"/>
                </a:solidFill>
                <a:latin typeface="Calibri"/>
              </a:rPr>
              <a:t>IN ONE SENTENCE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2471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LEON is a web page that does a first reading of the files.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C5D4E8"/>
                </a:solidFill>
                <a:latin typeface="Calibri"/>
              </a:rPr>
              <a:t>You drop the documents in a browser. You get highlights, then you decide.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417320"/>
            <a:ext cx="5532120" cy="4892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417320"/>
            <a:ext cx="73152" cy="48920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545336"/>
            <a:ext cx="52212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B2545"/>
                </a:solidFill>
                <a:latin typeface="Calibri"/>
              </a:rPr>
              <a:t>What it does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1874520"/>
            <a:ext cx="5221224" cy="4306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2B3A"/>
                </a:solidFill>
                <a:latin typeface="Calibri"/>
              </a:rPr>
              <a:t>Opens the spec, the matrix and the TDR for you.
Finds every requirement, every OK / NOK / NA, and the matching page or slide.
Puts in red the things that do not match — wrong number, empty proof, OK tick with a worrying comment.
Gives you an Excel you can share in the review meeting.
You still sign. LEON only prepares the file.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17320"/>
            <a:ext cx="553212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417320"/>
            <a:ext cx="73152" cy="2286000"/>
          </a:xfrm>
          <a:prstGeom prst="rect">
            <a:avLst/>
          </a:prstGeom>
          <a:solidFill>
            <a:srgbClr val="B3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1545336"/>
            <a:ext cx="52212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B2545"/>
                </a:solidFill>
                <a:latin typeface="Calibri"/>
              </a:rPr>
              <a:t>What it is not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1874520"/>
            <a:ext cx="5221224" cy="1700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2B3A"/>
                </a:solidFill>
                <a:latin typeface="Calibri"/>
              </a:rPr>
              <a:t>Not a robot that approves a supplier.
Not a black box that “says yes”.
Not a replacement for the engineer, quality or purchasing.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886200"/>
            <a:ext cx="5532120" cy="2423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886200"/>
            <a:ext cx="73152" cy="2423160"/>
          </a:xfrm>
          <a:prstGeom prst="rect">
            <a:avLst/>
          </a:prstGeom>
          <a:solidFill>
            <a:srgbClr val="157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4014216"/>
            <a:ext cx="52212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B2545"/>
                </a:solidFill>
                <a:latin typeface="Calibri"/>
              </a:rPr>
              <a:t>Who it is for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4343400"/>
            <a:ext cx="5221224" cy="1837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2B3A"/>
                </a:solidFill>
                <a:latin typeface="Calibri"/>
              </a:rPr>
              <a:t>Mechatronics engineers reviewing a part.
Quality / FNR looking at a conformity matrix.
Anyone who must walk into a TDR meeting prepared.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A9BCD4"/>
                </a:solidFill>
                <a:latin typeface="Calibri"/>
              </a:rPr>
              <a:t>Khadija Benhamida  ·  Mechatronics Engineering  ·  First meeting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5  / 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A9BCD4"/>
                </a:solidFill>
                <a:latin typeface="Calibri"/>
              </a:rPr>
              <a:t>THE SCREEN YOU OPEN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2471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Six tabs — six jobs. You only use the ones you need.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C5D4E8"/>
                </a:solidFill>
                <a:latin typeface="Calibri"/>
              </a:rPr>
              <a:t>Same tool, same browser. No installation for the person reviewing.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389888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389888"/>
            <a:ext cx="3566160" cy="914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645920"/>
            <a:ext cx="316382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545"/>
                </a:solidFill>
                <a:latin typeface="Calibri"/>
              </a:rPr>
              <a:t>📄  Spec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2441448"/>
            <a:ext cx="3163824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2B3A"/>
                </a:solidFill>
                <a:latin typeface="Calibri"/>
              </a:rPr>
              <a:t>Is our spec complete and clear before we send it?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0520" y="1389888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1389888"/>
            <a:ext cx="3566160" cy="91440"/>
          </a:xfrm>
          <a:prstGeom prst="rect">
            <a:avLst/>
          </a:prstGeom>
          <a:solidFill>
            <a:srgbClr val="9A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1688" y="1645920"/>
            <a:ext cx="316382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545"/>
                </a:solidFill>
                <a:latin typeface="Calibri"/>
              </a:rPr>
              <a:t>📊  Conformity Matrix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1688" y="2441448"/>
            <a:ext cx="3163824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2B3A"/>
                </a:solidFill>
                <a:latin typeface="Calibri"/>
              </a:rPr>
              <a:t>Read the supplier Excel: OK / NOK / NA and catch fake OK.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1389888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09560" y="1389888"/>
            <a:ext cx="3566160" cy="91440"/>
          </a:xfrm>
          <a:prstGeom prst="rect">
            <a:avLst/>
          </a:prstGeom>
          <a:solidFill>
            <a:srgbClr val="1230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0728" y="1645920"/>
            <a:ext cx="316382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545"/>
                </a:solidFill>
                <a:latin typeface="Calibri"/>
              </a:rPr>
              <a:t>🔎  Matrix ↔ TDR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10728" y="2441448"/>
            <a:ext cx="3163824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2B3A"/>
                </a:solidFill>
                <a:latin typeface="Calibri"/>
              </a:rPr>
              <a:t>Do the ticks match the proof in the PowerPoint / PDF?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7947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3794760"/>
            <a:ext cx="3566160" cy="91440"/>
          </a:xfrm>
          <a:prstGeom prst="rect">
            <a:avLst/>
          </a:prstGeom>
          <a:solidFill>
            <a:srgbClr val="157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" y="4050792"/>
            <a:ext cx="316382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545"/>
                </a:solidFill>
                <a:latin typeface="Calibri"/>
              </a:rPr>
              <a:t>🏁  TDR Benchmark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" y="4846320"/>
            <a:ext cx="3163824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2B3A"/>
                </a:solidFill>
                <a:latin typeface="Calibri"/>
              </a:rPr>
              <a:t>Compare several suppliers’ technical offers, side by side.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37947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3794760"/>
            <a:ext cx="3566160" cy="91440"/>
          </a:xfrm>
          <a:prstGeom prst="rect">
            <a:avLst/>
          </a:prstGeom>
          <a:solidFill>
            <a:srgbClr val="5B6B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1688" y="4050792"/>
            <a:ext cx="316382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545"/>
                </a:solidFill>
                <a:latin typeface="Calibri"/>
              </a:rPr>
              <a:t>📉  Version Delta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61688" y="4846320"/>
            <a:ext cx="3163824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2B3A"/>
                </a:solidFill>
                <a:latin typeface="Calibri"/>
              </a:rPr>
              <a:t>What changed between two versions of the same matrix?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9560" y="37947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09560" y="3794760"/>
            <a:ext cx="3566160" cy="914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10728" y="4050792"/>
            <a:ext cx="316382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545"/>
                </a:solidFill>
                <a:latin typeface="Calibri"/>
              </a:rPr>
              <a:t>🔗  Matrix + evidence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10728" y="4846320"/>
            <a:ext cx="3163824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2B3A"/>
                </a:solidFill>
                <a:latin typeface="Calibri"/>
              </a:rPr>
              <a:t>Find the page that talks about a given requirement.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A9BCD4"/>
                </a:solidFill>
                <a:latin typeface="Calibri"/>
              </a:rPr>
              <a:t>Khadija Benhamida  ·  Mechatronics Engineering  ·  First meeting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6  / 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A9BCD4"/>
                </a:solidFill>
                <a:latin typeface="Calibri"/>
              </a:rPr>
              <a:t>JOBS 1 AND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2471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First we clean our spec. Then we read their checklist.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C5D4E8"/>
                </a:solidFill>
                <a:latin typeface="Calibri"/>
              </a:rPr>
              <a:t>Two tabs that already save hours, even before looking at the TDR.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389888"/>
            <a:ext cx="5532120" cy="49194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389888"/>
            <a:ext cx="5532120" cy="4754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444752"/>
            <a:ext cx="521208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📄   Spec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5074920" cy="4023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2B3A"/>
                </a:solidFill>
                <a:latin typeface="Calibri"/>
              </a:rPr>
              <a:t>Upload our Word / PDF specification.
LEON checks, like a very patient editor:
• Are the mandatory chapters there? (Purpose, Scope, Requirements…)
• Are leftover template words still there?  &lt;&lt;name&gt;&gt;, TBD, XXX
• Does each requirement have an ID and a clear “shall”?
You get a verdict (good / acceptable / not ready) and a Word report.
Bonus: one click builds the empty conformity matrix so the supplier does not type 400 rows by hand.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389888"/>
            <a:ext cx="5532120" cy="49194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389888"/>
            <a:ext cx="5532120" cy="475488"/>
          </a:xfrm>
          <a:prstGeom prst="rect">
            <a:avLst/>
          </a:prstGeom>
          <a:solidFill>
            <a:srgbClr val="9A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444752"/>
            <a:ext cx="521208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📊   Conformity Matrix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011680"/>
            <a:ext cx="5074920" cy="4023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2B3A"/>
                </a:solidFill>
                <a:latin typeface="Calibri"/>
              </a:rPr>
              <a:t>Upload the supplier’s Excel / ODS — even if they renamed columns.
LEON counts OK / NOK / NA, draws a pie chart, and lists every row.
Then it re-reads every OK comment and raises a “point of attention” when:
• the comment contradicts the tick  (“OK” + “not validated”)
• conformity is only partial or still pending
You download a colour-coded Excel (green / red / grey) for the meeting.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A9BCD4"/>
                </a:solidFill>
                <a:latin typeface="Calibri"/>
              </a:rPr>
              <a:t>Khadija Benhamida  ·  Mechatronics Engineering  ·  First meeting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7  / 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A9BCD4"/>
                </a:solidFill>
                <a:latin typeface="Calibri"/>
              </a:rPr>
              <a:t>JOBS 3 AND 4 — THE HEART OF THE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2471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The TDR is the proof. LEON puts the tick next to the proof.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C5D4E8"/>
                </a:solidFill>
                <a:latin typeface="Calibri"/>
              </a:rPr>
              <a:t>This is the tab to show in a TDR meeting.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353312"/>
            <a:ext cx="11338560" cy="1234440"/>
          </a:xfrm>
          <a:prstGeom prst="roundRect">
            <a:avLst>
              <a:gd name="adj" fmla="val 8000"/>
            </a:avLst>
          </a:prstGeom>
          <a:solidFill>
            <a:srgbClr val="FBF3E6"/>
          </a:solidFill>
          <a:ln w="12700">
            <a:solidFill>
              <a:srgbClr val="9A5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44752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9A5B00"/>
                </a:solidFill>
                <a:latin typeface="Calibri"/>
              </a:rPr>
              <a:t>A typical catch  —  contrast of the display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55648"/>
            <a:ext cx="1097280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2B3A"/>
                </a:solidFill>
                <a:latin typeface="Calibri"/>
              </a:rPr>
              <a:t>Stellantis asks:  contrast ≥ 400:1     ·     Matrix:  OK     ·     TDR slide 14:  380:1
LEON opens on this kind of incoherence — not on the 200 rows that already match.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761488"/>
            <a:ext cx="5532120" cy="3520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2761488"/>
            <a:ext cx="73152" cy="3520440"/>
          </a:xfrm>
          <a:prstGeom prst="rect">
            <a:avLst/>
          </a:prstGeom>
          <a:solidFill>
            <a:srgbClr val="1230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2889504"/>
            <a:ext cx="52212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545"/>
                </a:solidFill>
                <a:latin typeface="Calibri"/>
              </a:rPr>
              <a:t>🔎  Matrix ↔ TDR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3218688"/>
            <a:ext cx="5221224" cy="29352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C2B3A"/>
                </a:solidFill>
                <a:latin typeface="Calibri"/>
              </a:rPr>
              <a:t>Upload the matrix and the supplier dossier (PPT / PDF / Word).
For each requirement LEON writes four lines:
what we asked · what they ticked · what the TDR says · which page.
The engineer can confirm, correct or ask for real proof. Nothing is auto-accepted.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761488"/>
            <a:ext cx="5532120" cy="3520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2761488"/>
            <a:ext cx="73152" cy="3520440"/>
          </a:xfrm>
          <a:prstGeom prst="rect">
            <a:avLst/>
          </a:prstGeom>
          <a:solidFill>
            <a:srgbClr val="157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3368" y="2889504"/>
            <a:ext cx="52212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545"/>
                </a:solidFill>
                <a:latin typeface="Calibri"/>
              </a:rPr>
              <a:t>🏁  TDR Benchmark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3218688"/>
            <a:ext cx="5221224" cy="29352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C2B3A"/>
                </a:solidFill>
                <a:latin typeface="Calibri"/>
              </a:rPr>
              <a:t>Several suppliers, several technical files — no prices, only the technique.
LEON lines them up on the same topics: mechanics, display, electronics, safety, software, testing, industrialisation…
You see strengths, gaps and open questions, then you still pick the partner.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A9BCD4"/>
                </a:solidFill>
                <a:latin typeface="Calibri"/>
              </a:rPr>
              <a:t>Khadija Benhamida  ·  Mechatronics Engineering  ·  First meeting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8  / 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A9BCD4"/>
                </a:solidFill>
                <a:latin typeface="Calibri"/>
              </a:rPr>
              <a:t>WHAT I HAVE DELIVERED SO FAR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2471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LEON prepares the review. People remain in charge.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C5D4E8"/>
                </a:solidFill>
                <a:latin typeface="Calibri"/>
              </a:rPr>
              <a:t>These are the points I have been working on — a first reading in minutes, so the meeting is about the real issues.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11247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109728" cy="960120"/>
          </a:xfrm>
          <a:prstGeom prst="rect">
            <a:avLst/>
          </a:prstGeom>
          <a:solidFill>
            <a:srgbClr val="157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481328"/>
            <a:ext cx="106984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545"/>
                </a:solidFill>
                <a:latin typeface="Calibri"/>
              </a:rPr>
              <a:t>Drop files in a 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810512"/>
            <a:ext cx="1069848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2B3A"/>
                </a:solidFill>
                <a:latin typeface="Calibri"/>
              </a:rPr>
              <a:t>Spec, matrix, TDR. No software to install for the reviewer.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23160"/>
            <a:ext cx="11247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423160"/>
            <a:ext cx="109728" cy="9601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532888"/>
            <a:ext cx="106984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545"/>
                </a:solidFill>
                <a:latin typeface="Calibri"/>
              </a:rPr>
              <a:t>See mismatches 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862072"/>
            <a:ext cx="1069848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2B3A"/>
                </a:solidFill>
                <a:latin typeface="Calibri"/>
              </a:rPr>
              <a:t>Fake OK, missing proof, wrong numbers, version changes.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74720"/>
            <a:ext cx="11247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474720"/>
            <a:ext cx="109728" cy="960120"/>
          </a:xfrm>
          <a:prstGeom prst="rect">
            <a:avLst/>
          </a:prstGeom>
          <a:solidFill>
            <a:srgbClr val="9A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584448"/>
            <a:ext cx="106984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545"/>
                </a:solidFill>
                <a:latin typeface="Calibri"/>
              </a:rPr>
              <a:t>Leave with an Excel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913632"/>
            <a:ext cx="1069848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2B3A"/>
                </a:solidFill>
                <a:latin typeface="Calibri"/>
              </a:rPr>
              <a:t>Colour-coded report you can send to quality, purchasing or the supplier.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526280"/>
            <a:ext cx="11247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526280"/>
            <a:ext cx="109728" cy="960120"/>
          </a:xfrm>
          <a:prstGeom prst="rect">
            <a:avLst/>
          </a:prstGeom>
          <a:solidFill>
            <a:srgbClr val="1230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636008"/>
            <a:ext cx="106984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545"/>
                </a:solidFill>
                <a:latin typeface="Calibri"/>
              </a:rPr>
              <a:t>Never a certificate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965192"/>
            <a:ext cx="1069848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2B3A"/>
                </a:solidFill>
                <a:latin typeface="Calibri"/>
              </a:rPr>
              <a:t>If LEON finds nothing, that is not a stamp of approval. An engineer still signs.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623560"/>
            <a:ext cx="1124712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2545"/>
                </a:solidFill>
                <a:latin typeface="Calibri"/>
              </a:rPr>
              <a:t>In short: we are building a careful reader for the spec, the matrix and the TDR — so Stellantis walks into supplier reviews with the contradictions already on the table.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A9BCD4"/>
                </a:solidFill>
                <a:latin typeface="Calibri"/>
              </a:rPr>
              <a:t>Khadija Benhamida  ·  Mechatronics Engineering  ·  First meeting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9  / 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A9BCD4"/>
                </a:solidFill>
                <a:latin typeface="Calibri"/>
              </a:rPr>
              <a:t>COLLABORATION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2471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I do not work on this alone.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C5D4E8"/>
                </a:solidFill>
                <a:latin typeface="Calibri"/>
              </a:rPr>
              <a:t>Imane El Brouji and Patrick Garcia bring the mechatronics side. I turn it into LEON.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389888"/>
            <a:ext cx="553212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389888"/>
            <a:ext cx="5532120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45920"/>
            <a:ext cx="5074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B2545"/>
                </a:solidFill>
                <a:latin typeface="Calibri"/>
              </a:rPr>
              <a:t>Imane El Brouji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84831"/>
            <a:ext cx="50749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1D4ED8"/>
                </a:solidFill>
                <a:latin typeface="Calibri"/>
              </a:rPr>
              <a:t>Mechatronics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14600"/>
            <a:ext cx="507492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2B3A"/>
                </a:solidFill>
                <a:latin typeface="Calibri"/>
              </a:rPr>
              <a:t>Shares the needs of the team, the real documents we receive, and the ideas of what would actually help an engineer in a review.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389888"/>
            <a:ext cx="553212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389888"/>
            <a:ext cx="5532120" cy="109728"/>
          </a:xfrm>
          <a:prstGeom prst="rect">
            <a:avLst/>
          </a:prstGeom>
          <a:solidFill>
            <a:srgbClr val="157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645920"/>
            <a:ext cx="5074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B2545"/>
                </a:solidFill>
                <a:latin typeface="Calibri"/>
              </a:rPr>
              <a:t>Patrick Garcia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084831"/>
            <a:ext cx="50749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157347"/>
                </a:solidFill>
                <a:latin typeface="Calibri"/>
              </a:rPr>
              <a:t>Mechatronics Engineering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514600"/>
            <a:ext cx="507492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2B3A"/>
                </a:solidFill>
                <a:latin typeface="Calibri"/>
              </a:rPr>
              <a:t>Explains the mechatronics context: how a spec, a matrix and a TDR are used in the team, and what a good review must look like.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800600"/>
            <a:ext cx="112928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4800600"/>
            <a:ext cx="109728" cy="1554480"/>
          </a:xfrm>
          <a:prstGeom prst="rect">
            <a:avLst/>
          </a:prstGeom>
          <a:solidFill>
            <a:srgbClr val="1230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937760"/>
            <a:ext cx="106984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545"/>
                </a:solidFill>
                <a:latin typeface="Calibri"/>
              </a:rPr>
              <a:t>How we work together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321808"/>
            <a:ext cx="106984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2B3A"/>
                </a:solidFill>
                <a:latin typeface="Calibri"/>
              </a:rPr>
              <a:t>They give the ideas and the technical meaning. I build and iterate on LEON. Nothing in the tool is designed without that mechatronics input — so the result stays useful for the team, not only for an IT exercise.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A9BCD4"/>
                </a:solidFill>
                <a:latin typeface="Calibri"/>
              </a:rPr>
              <a:t>Khadija Benhamida  ·  Mechatronics Engineering  ·  First meeting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10  / 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A9BCD4"/>
                </a:solidFill>
                <a:latin typeface="Calibri"/>
              </a:rPr>
              <a:t>STATUS AND NEXT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2471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The work is in progress. Deployment comes after.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C5D4E8"/>
                </a:solidFill>
                <a:latin typeface="Calibri"/>
              </a:rPr>
              <a:t>The whole team will have access once this step is finished.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417320"/>
            <a:ext cx="3703320" cy="3703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417320"/>
            <a:ext cx="3703320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32461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1D4ED8"/>
                </a:solidFill>
                <a:latin typeface="Calibri"/>
              </a:rPr>
              <a:t>01  Now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84831"/>
            <a:ext cx="324612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B2545"/>
                </a:solidFill>
                <a:latin typeface="Calibri"/>
              </a:rPr>
              <a:t>In progress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324612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2B3A"/>
                </a:solidFill>
                <a:latin typeface="Calibri"/>
              </a:rPr>
              <a:t>I am finishing the LEON functions you just saw: spec, matrix, TDR cross-check and benchmark.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417320"/>
            <a:ext cx="3703320" cy="3703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1417320"/>
            <a:ext cx="3703320" cy="109728"/>
          </a:xfrm>
          <a:prstGeom prst="rect">
            <a:avLst/>
          </a:prstGeom>
          <a:solidFill>
            <a:srgbClr val="9A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1691640"/>
            <a:ext cx="32461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9A5B00"/>
                </a:solidFill>
                <a:latin typeface="Calibri"/>
              </a:rPr>
              <a:t>02  Next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084831"/>
            <a:ext cx="324612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B2545"/>
                </a:solidFill>
                <a:latin typeface="Calibri"/>
              </a:rPr>
              <a:t>Finish this task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926080"/>
            <a:ext cx="324612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2B3A"/>
                </a:solidFill>
                <a:latin typeface="Calibri"/>
              </a:rPr>
              <a:t>Close the remaining work, test with real mechatronics files, and align with Imane and Patrick.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417320"/>
            <a:ext cx="3703320" cy="3703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1417320"/>
            <a:ext cx="3703320" cy="109728"/>
          </a:xfrm>
          <a:prstGeom prst="rect">
            <a:avLst/>
          </a:prstGeom>
          <a:solidFill>
            <a:srgbClr val="157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691640"/>
            <a:ext cx="32461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157347"/>
                </a:solidFill>
                <a:latin typeface="Calibri"/>
              </a:rPr>
              <a:t>03  Then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084831"/>
            <a:ext cx="324612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B2545"/>
                </a:solidFill>
                <a:latin typeface="Calibri"/>
              </a:rPr>
              <a:t>Deployment for the 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926080"/>
            <a:ext cx="324612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2B3A"/>
                </a:solidFill>
                <a:latin typeface="Calibri"/>
              </a:rPr>
              <a:t>Once this task is finished, we start the deployment so the whole Mechatronics team can open LEON in a browser, with no installation.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5303520"/>
            <a:ext cx="11292840" cy="1078992"/>
          </a:xfrm>
          <a:prstGeom prst="roundRect">
            <a:avLst>
              <a:gd name="adj" fmla="val 8000"/>
            </a:avLst>
          </a:prstGeom>
          <a:solidFill>
            <a:srgbClr val="E8F5EE"/>
          </a:solidFill>
          <a:ln w="12700">
            <a:solidFill>
              <a:srgbClr val="157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440680"/>
            <a:ext cx="1088136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2545"/>
                </a:solidFill>
                <a:latin typeface="Calibri"/>
              </a:rPr>
              <a:t>Objective: every colleague who reviews a spec, a matrix or a TDR can use LEON — not only the people building it today.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A9BCD4"/>
                </a:solidFill>
                <a:latin typeface="Calibri"/>
              </a:rPr>
              <a:t>Khadija Benhamida  ·  Mechatronics Engineering  ·  First meeting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11  / 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A9BCD4"/>
                </a:solidFill>
                <a:latin typeface="Calibri"/>
              </a:rPr>
              <a:t>UPCOMING 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2471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AI training — and how Mechatronics can use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C5D4E8"/>
                </a:solidFill>
                <a:latin typeface="Calibri"/>
              </a:rPr>
              <a:t>A practical training for the team, not a computer-science course.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389888"/>
            <a:ext cx="5532120" cy="49194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389888"/>
            <a:ext cx="73152" cy="491947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517904"/>
            <a:ext cx="52212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B2545"/>
                </a:solidFill>
                <a:latin typeface="Calibri"/>
              </a:rPr>
              <a:t>What this training is for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1847088"/>
            <a:ext cx="5221224" cy="43342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2B3A"/>
                </a:solidFill>
                <a:latin typeface="Calibri"/>
              </a:rPr>
              <a:t>Understand what AI can (and cannot) do on our daily files.
See how a tool like LEON helps on specs, matrices and TDRs, without replacing the engineer.
Give the team a common language: where AI saves time, and where a person must still decide.
Bring examples back from our real mechatronics documents.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389888"/>
            <a:ext cx="5532120" cy="49194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389888"/>
            <a:ext cx="73152" cy="4919472"/>
          </a:xfrm>
          <a:prstGeom prst="rect">
            <a:avLst/>
          </a:prstGeom>
          <a:solidFill>
            <a:srgbClr val="157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1517904"/>
            <a:ext cx="52212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B2545"/>
                </a:solidFill>
                <a:latin typeface="Calibri"/>
              </a:rPr>
              <a:t>How the team can use it afterwards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1847088"/>
            <a:ext cx="5221224" cy="43342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2B3A"/>
                </a:solidFill>
                <a:latin typeface="Calibri"/>
              </a:rPr>
              <a:t>Faster first reading of a supplier file before a TDR meeting.
Fewer missed “OK” that are not really OK.
Side-by-side comparison of several suppliers on the technique.
A habit: AI proposes, the mechatronics engineer validates.
I can share a short recap with the team after the training.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A9BCD4"/>
                </a:solidFill>
                <a:latin typeface="Calibri"/>
              </a:rPr>
              <a:t>Khadija Benhamida  ·  Mechatronics Engineering  ·  First meeting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12  / 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A9BCD4"/>
                </a:solidFill>
                <a:latin typeface="Calibri"/>
              </a:rPr>
              <a:t>TO CONFIRM WITH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2471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Two points of organisation I would like to validate.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C5D4E8"/>
                </a:solidFill>
                <a:latin typeface="Calibri"/>
              </a:rPr>
              <a:t>Télétravail and the first school period.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389888"/>
            <a:ext cx="5532120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389888"/>
            <a:ext cx="5532120" cy="4754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444752"/>
            <a:ext cx="521208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Télétravail (TT)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57400"/>
            <a:ext cx="5074920" cy="2468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1C2B3A"/>
                </a:solidFill>
                <a:latin typeface="Calibri"/>
              </a:rPr>
              <a:t>I take two days of télétravail per week:
• Wednesday
• Friday
I would like to confirm this rhythm with you, so the team knows when I am on site and when I am in TT.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389888"/>
            <a:ext cx="5532120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389888"/>
            <a:ext cx="5532120" cy="475488"/>
          </a:xfrm>
          <a:prstGeom prst="rect">
            <a:avLst/>
          </a:prstGeom>
          <a:solidFill>
            <a:srgbClr val="9A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444752"/>
            <a:ext cx="521208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Période école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057400"/>
            <a:ext cx="5074920" cy="2468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1C2B3A"/>
                </a:solidFill>
                <a:latin typeface="Calibri"/>
              </a:rPr>
              <a:t>Over the next two weeks I will be in my first school period (période école).
I will not be on site during that time.
After that, I am back on the usual company / TT rhythm.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4956048"/>
            <a:ext cx="11292840" cy="1389888"/>
          </a:xfrm>
          <a:prstGeom prst="roundRect">
            <a:avLst>
              <a:gd name="adj" fmla="val 8000"/>
            </a:avLst>
          </a:prstGeom>
          <a:solidFill>
            <a:srgbClr val="FBF3E6"/>
          </a:solidFill>
          <a:ln w="12700">
            <a:solidFill>
              <a:srgbClr val="9A5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102352"/>
            <a:ext cx="108813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9A5B00"/>
                </a:solidFill>
                <a:latin typeface="Calibri"/>
              </a:rPr>
              <a:t>Thank you — I am happy to adjust if needed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486400"/>
            <a:ext cx="10881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2B3A"/>
                </a:solidFill>
                <a:latin typeface="Calibri"/>
              </a:rPr>
              <a:t>These two points are for your validation. If the TT days or the school period need a different organisation, I can adapt.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A9BCD4"/>
                </a:solidFill>
                <a:latin typeface="Calibri"/>
              </a:rPr>
              <a:t>Khadija Benhamida  ·  Mechatronics Engineering  ·  First meeting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13  / 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