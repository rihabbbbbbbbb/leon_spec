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Introductory meeting. Present the project, then collaboration, status and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project. The three documents must tell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confirmation of TT Wednesday and Friday, and of the school period.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731520"/>
            <a:ext cx="10515600" cy="256032"/>
          </a:xfrm>
          <a:prstGeom prst="rect">
            <a:avLst/>
          </a:prstGeom>
          <a:noFill/>
        </p:spPr>
        <p:txBody>
          <a:bodyPr wrap="square" anchor="t"/>
          <a:lstStyle/>
          <a:p>
            <a:pPr algn="l"/>
            <a:r>
              <a:rPr sz="1300" b="1">
                <a:solidFill>
                  <a:srgbClr val="A9BCD4"/>
                </a:solidFill>
                <a:latin typeface="Calibri"/>
              </a:rPr>
              <a:t>STELLANTIS  ·  MECHATRONICS ENGINEERING</a:t>
            </a:r>
          </a:p>
        </p:txBody>
      </p:sp>
      <p:sp>
        <p:nvSpPr>
          <p:cNvPr id="6" name="TextBox 5"/>
          <p:cNvSpPr txBox="1"/>
          <p:nvPr/>
        </p:nvSpPr>
        <p:spPr>
          <a:xfrm>
            <a:off x="640080" y="1078992"/>
            <a:ext cx="10515600" cy="274320"/>
          </a:xfrm>
          <a:prstGeom prst="rect">
            <a:avLst/>
          </a:prstGeom>
          <a:noFill/>
        </p:spPr>
        <p:txBody>
          <a:bodyPr wrap="square" anchor="t"/>
          <a:lstStyle/>
          <a:p>
            <a:pPr algn="l"/>
            <a:r>
              <a:rPr sz="1300" b="1">
                <a:solidFill>
                  <a:srgbClr val="1D4ED8"/>
                </a:solidFill>
                <a:latin typeface="Calibri"/>
              </a:rPr>
              <a:t>INTRODUCTORY MEETING  ·  OCTOBER 2026</a:t>
            </a:r>
          </a:p>
        </p:txBody>
      </p:sp>
      <p:sp>
        <p:nvSpPr>
          <p:cNvPr id="7" name="TextBox 6"/>
          <p:cNvSpPr txBox="1"/>
          <p:nvPr/>
        </p:nvSpPr>
        <p:spPr>
          <a:xfrm>
            <a:off x="640080" y="1417320"/>
            <a:ext cx="10972800" cy="640080"/>
          </a:xfrm>
          <a:prstGeom prst="rect">
            <a:avLst/>
          </a:prstGeom>
          <a:noFill/>
        </p:spPr>
        <p:txBody>
          <a:bodyPr wrap="square" anchor="t"/>
          <a:lstStyle/>
          <a:p>
            <a:pPr algn="l"/>
            <a:r>
              <a:rPr sz="4800" b="1">
                <a:solidFill>
                  <a:srgbClr val="FFFFFF"/>
                </a:solidFill>
                <a:latin typeface="Calibri"/>
              </a:rPr>
              <a:t>AERIS</a:t>
            </a:r>
          </a:p>
        </p:txBody>
      </p:sp>
      <p:sp>
        <p:nvSpPr>
          <p:cNvPr id="8" name="TextBox 7"/>
          <p:cNvSpPr txBox="1"/>
          <p:nvPr/>
        </p:nvSpPr>
        <p:spPr>
          <a:xfrm>
            <a:off x="640080" y="2084831"/>
            <a:ext cx="10972800" cy="384048"/>
          </a:xfrm>
          <a:prstGeom prst="rect">
            <a:avLst/>
          </a:prstGeom>
          <a:noFill/>
        </p:spPr>
        <p:txBody>
          <a:bodyPr wrap="square" anchor="t"/>
          <a:lstStyle/>
          <a:p>
            <a:pPr algn="l"/>
            <a:r>
              <a:rPr sz="1800" b="1">
                <a:solidFill>
                  <a:srgbClr val="E8EEFB"/>
                </a:solidFill>
                <a:latin typeface="Calibri"/>
              </a:rPr>
              <a:t>Automated Engineering Review &amp; Integrity System</a:t>
            </a:r>
          </a:p>
        </p:txBody>
      </p:sp>
      <p:sp>
        <p:nvSpPr>
          <p:cNvPr id="9" name="TextBox 8"/>
          <p:cNvSpPr txBox="1"/>
          <p:nvPr/>
        </p:nvSpPr>
        <p:spPr>
          <a:xfrm>
            <a:off x="640080" y="2542032"/>
            <a:ext cx="10789920" cy="640080"/>
          </a:xfrm>
          <a:prstGeom prst="rect">
            <a:avLst/>
          </a:prstGeom>
          <a:noFill/>
        </p:spPr>
        <p:txBody>
          <a:bodyPr wrap="square" anchor="t"/>
          <a:lstStyle/>
          <a:p>
            <a:pPr algn="l"/>
            <a:r>
              <a:rPr sz="1600" b="0">
                <a:solidFill>
                  <a:srgbClr val="C5D4E8"/>
                </a:solidFill>
                <a:latin typeface="Calibri"/>
              </a:rPr>
              <a:t>Project presentation: review of specifications, conformity matrices
and technical design dossiers (TDR) — without requiring an AI background.</a:t>
            </a:r>
          </a:p>
        </p:txBody>
      </p:sp>
      <p:sp>
        <p:nvSpPr>
          <p:cNvPr id="10" name="Rectangle 9"/>
          <p:cNvSpPr/>
          <p:nvPr/>
        </p:nvSpPr>
        <p:spPr>
          <a:xfrm>
            <a:off x="640080" y="3273552"/>
            <a:ext cx="3108960" cy="6400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456432"/>
            <a:ext cx="10789920" cy="640080"/>
          </a:xfrm>
          <a:prstGeom prst="rect">
            <a:avLst/>
          </a:prstGeom>
          <a:noFill/>
        </p:spPr>
        <p:txBody>
          <a:bodyPr wrap="square" anchor="t"/>
          <a:lstStyle/>
          <a:p>
            <a:pPr algn="l"/>
            <a:r>
              <a:rPr sz="1500" b="0">
                <a:solidFill>
                  <a:srgbClr val="A9BCD4"/>
                </a:solidFill>
                <a:latin typeface="Calibri"/>
              </a:rPr>
              <a:t>In collaboration with Imane El Brouji and Patrick Garcia
Mechatronics Engineering</a:t>
            </a:r>
          </a:p>
        </p:txBody>
      </p:sp>
      <p:sp>
        <p:nvSpPr>
          <p:cNvPr id="12" name="Rounded Rectangle 11"/>
          <p:cNvSpPr/>
          <p:nvPr/>
        </p:nvSpPr>
        <p:spPr>
          <a:xfrm>
            <a:off x="640080" y="4297680"/>
            <a:ext cx="3108960" cy="1051560"/>
          </a:xfrm>
          <a:prstGeom prst="roundRect">
            <a:avLst>
              <a:gd name="adj" fmla="val 8000"/>
            </a:avLst>
          </a:prstGeom>
          <a:solidFill>
            <a:srgbClr val="153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297680"/>
            <a:ext cx="91440" cy="1051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407408"/>
            <a:ext cx="2743200" cy="384048"/>
          </a:xfrm>
          <a:prstGeom prst="rect">
            <a:avLst/>
          </a:prstGeom>
          <a:noFill/>
        </p:spPr>
        <p:txBody>
          <a:bodyPr wrap="square" anchor="ctr"/>
          <a:lstStyle/>
          <a:p>
            <a:pPr algn="l"/>
            <a:r>
              <a:rPr sz="1800" b="1">
                <a:solidFill>
                  <a:srgbClr val="FFFFFF"/>
                </a:solidFill>
                <a:latin typeface="Calibri"/>
              </a:rPr>
              <a:t>SPEC</a:t>
            </a:r>
          </a:p>
        </p:txBody>
      </p:sp>
      <p:sp>
        <p:nvSpPr>
          <p:cNvPr id="15" name="TextBox 14"/>
          <p:cNvSpPr txBox="1"/>
          <p:nvPr/>
        </p:nvSpPr>
        <p:spPr>
          <a:xfrm>
            <a:off x="896112" y="4809744"/>
            <a:ext cx="2743200" cy="365760"/>
          </a:xfrm>
          <a:prstGeom prst="rect">
            <a:avLst/>
          </a:prstGeom>
          <a:noFill/>
        </p:spPr>
        <p:txBody>
          <a:bodyPr wrap="square" anchor="t"/>
          <a:lstStyle/>
          <a:p>
            <a:pPr algn="l"/>
            <a:r>
              <a:rPr sz="1400" b="0">
                <a:solidFill>
                  <a:srgbClr val="A9BCD4"/>
                </a:solidFill>
                <a:latin typeface="Calibri"/>
              </a:rPr>
              <a:t>Customer requirements</a:t>
            </a:r>
          </a:p>
        </p:txBody>
      </p:sp>
      <p:sp>
        <p:nvSpPr>
          <p:cNvPr id="16" name="Rounded Rectangle 15"/>
          <p:cNvSpPr/>
          <p:nvPr/>
        </p:nvSpPr>
        <p:spPr>
          <a:xfrm>
            <a:off x="3977640" y="4297680"/>
            <a:ext cx="3108960" cy="1051560"/>
          </a:xfrm>
          <a:prstGeom prst="roundRect">
            <a:avLst>
              <a:gd name="adj" fmla="val 8000"/>
            </a:avLst>
          </a:prstGeom>
          <a:solidFill>
            <a:srgbClr val="153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977640" y="4297680"/>
            <a:ext cx="91440" cy="1051560"/>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3672" y="4407408"/>
            <a:ext cx="2743200" cy="384048"/>
          </a:xfrm>
          <a:prstGeom prst="rect">
            <a:avLst/>
          </a:prstGeom>
          <a:noFill/>
        </p:spPr>
        <p:txBody>
          <a:bodyPr wrap="square" anchor="ctr"/>
          <a:lstStyle/>
          <a:p>
            <a:pPr algn="l"/>
            <a:r>
              <a:rPr sz="1800" b="1">
                <a:solidFill>
                  <a:srgbClr val="FFFFFF"/>
                </a:solidFill>
                <a:latin typeface="Calibri"/>
              </a:rPr>
              <a:t>MATRIX</a:t>
            </a:r>
          </a:p>
        </p:txBody>
      </p:sp>
      <p:sp>
        <p:nvSpPr>
          <p:cNvPr id="19" name="TextBox 18"/>
          <p:cNvSpPr txBox="1"/>
          <p:nvPr/>
        </p:nvSpPr>
        <p:spPr>
          <a:xfrm>
            <a:off x="4233672" y="4809744"/>
            <a:ext cx="2743200" cy="365760"/>
          </a:xfrm>
          <a:prstGeom prst="rect">
            <a:avLst/>
          </a:prstGeom>
          <a:noFill/>
        </p:spPr>
        <p:txBody>
          <a:bodyPr wrap="square" anchor="t"/>
          <a:lstStyle/>
          <a:p>
            <a:pPr algn="l"/>
            <a:r>
              <a:rPr sz="1400" b="0">
                <a:solidFill>
                  <a:srgbClr val="A9BCD4"/>
                </a:solidFill>
                <a:latin typeface="Calibri"/>
              </a:rPr>
              <a:t>Supplier declaration</a:t>
            </a:r>
          </a:p>
        </p:txBody>
      </p:sp>
      <p:sp>
        <p:nvSpPr>
          <p:cNvPr id="20" name="Rounded Rectangle 19"/>
          <p:cNvSpPr/>
          <p:nvPr/>
        </p:nvSpPr>
        <p:spPr>
          <a:xfrm>
            <a:off x="7315200" y="4297680"/>
            <a:ext cx="3108960" cy="1051560"/>
          </a:xfrm>
          <a:prstGeom prst="roundRect">
            <a:avLst>
              <a:gd name="adj" fmla="val 8000"/>
            </a:avLst>
          </a:prstGeom>
          <a:solidFill>
            <a:srgbClr val="1538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0" y="4297680"/>
            <a:ext cx="91440" cy="1051560"/>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2" y="4407408"/>
            <a:ext cx="2743200" cy="384048"/>
          </a:xfrm>
          <a:prstGeom prst="rect">
            <a:avLst/>
          </a:prstGeom>
          <a:noFill/>
        </p:spPr>
        <p:txBody>
          <a:bodyPr wrap="square" anchor="ctr"/>
          <a:lstStyle/>
          <a:p>
            <a:pPr algn="l"/>
            <a:r>
              <a:rPr sz="1800" b="1">
                <a:solidFill>
                  <a:srgbClr val="FFFFFF"/>
                </a:solidFill>
                <a:latin typeface="Calibri"/>
              </a:rPr>
              <a:t>TDR</a:t>
            </a:r>
          </a:p>
        </p:txBody>
      </p:sp>
      <p:sp>
        <p:nvSpPr>
          <p:cNvPr id="23" name="TextBox 22"/>
          <p:cNvSpPr txBox="1"/>
          <p:nvPr/>
        </p:nvSpPr>
        <p:spPr>
          <a:xfrm>
            <a:off x="7571232" y="4809744"/>
            <a:ext cx="2743200" cy="365760"/>
          </a:xfrm>
          <a:prstGeom prst="rect">
            <a:avLst/>
          </a:prstGeom>
          <a:noFill/>
        </p:spPr>
        <p:txBody>
          <a:bodyPr wrap="square" anchor="t"/>
          <a:lstStyle/>
          <a:p>
            <a:pPr algn="l"/>
            <a:r>
              <a:rPr sz="1400" b="0">
                <a:solidFill>
                  <a:srgbClr val="A9BCD4"/>
                </a:solidFill>
                <a:latin typeface="Calibri"/>
              </a:rPr>
              <a:t>Technical evidence</a:t>
            </a:r>
          </a:p>
        </p:txBody>
      </p:sp>
      <p:sp>
        <p:nvSpPr>
          <p:cNvPr id="24" name="TextBox 23"/>
          <p:cNvSpPr txBox="1"/>
          <p:nvPr/>
        </p:nvSpPr>
        <p:spPr>
          <a:xfrm>
            <a:off x="640080" y="5577840"/>
            <a:ext cx="10789920" cy="640080"/>
          </a:xfrm>
          <a:prstGeom prst="rect">
            <a:avLst/>
          </a:prstGeom>
          <a:noFill/>
        </p:spPr>
        <p:txBody>
          <a:bodyPr wrap="square" anchor="t"/>
          <a:lstStyle/>
          <a:p>
            <a:pPr algn="l"/>
            <a:r>
              <a:rPr sz="1400" b="0">
                <a:solidFill>
                  <a:srgbClr val="A9BCD4"/>
                </a:solidFill>
                <a:latin typeface="Calibri"/>
              </a:rPr>
              <a:t>Status: development in progress.
After completion of this phase, deployment will start so that the whole team has access.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AGENDA</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Meeting agenda</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Project explanation, work completed, then organisational points.</a:t>
            </a:r>
          </a:p>
        </p:txBody>
      </p:sp>
      <p:sp>
        <p:nvSpPr>
          <p:cNvPr id="8" name="Rounded Rectangle 7"/>
          <p:cNvSpPr/>
          <p:nvPr/>
        </p:nvSpPr>
        <p:spPr>
          <a:xfrm>
            <a:off x="457200" y="1353312"/>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53312"/>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353312"/>
            <a:ext cx="804672" cy="804672"/>
          </a:xfrm>
          <a:prstGeom prst="rect">
            <a:avLst/>
          </a:prstGeom>
          <a:noFill/>
        </p:spPr>
        <p:txBody>
          <a:bodyPr wrap="square" anchor="ctr"/>
          <a:lstStyle/>
          <a:p>
            <a:pPr algn="ctr"/>
            <a:r>
              <a:rPr sz="1600" b="1">
                <a:solidFill>
                  <a:srgbClr val="FFFFFF"/>
                </a:solidFill>
                <a:latin typeface="Calibri"/>
              </a:rPr>
              <a:t>01</a:t>
            </a:r>
          </a:p>
        </p:txBody>
      </p:sp>
      <p:sp>
        <p:nvSpPr>
          <p:cNvPr id="11" name="TextBox 10"/>
          <p:cNvSpPr txBox="1"/>
          <p:nvPr/>
        </p:nvSpPr>
        <p:spPr>
          <a:xfrm>
            <a:off x="1417320" y="1426464"/>
            <a:ext cx="9966960" cy="310896"/>
          </a:xfrm>
          <a:prstGeom prst="rect">
            <a:avLst/>
          </a:prstGeom>
          <a:noFill/>
        </p:spPr>
        <p:txBody>
          <a:bodyPr wrap="square" anchor="t"/>
          <a:lstStyle/>
          <a:p>
            <a:pPr algn="l"/>
            <a:r>
              <a:rPr sz="1600" b="1">
                <a:solidFill>
                  <a:srgbClr val="0B2545"/>
                </a:solidFill>
                <a:latin typeface="Calibri"/>
              </a:rPr>
              <a:t>The project</a:t>
            </a:r>
          </a:p>
        </p:txBody>
      </p:sp>
      <p:sp>
        <p:nvSpPr>
          <p:cNvPr id="12" name="TextBox 11"/>
          <p:cNvSpPr txBox="1"/>
          <p:nvPr/>
        </p:nvSpPr>
        <p:spPr>
          <a:xfrm>
            <a:off x="1417320" y="1737360"/>
            <a:ext cx="9966960" cy="347472"/>
          </a:xfrm>
          <a:prstGeom prst="rect">
            <a:avLst/>
          </a:prstGeom>
          <a:noFill/>
        </p:spPr>
        <p:txBody>
          <a:bodyPr wrap="square" anchor="t"/>
          <a:lstStyle/>
          <a:p>
            <a:pPr algn="l"/>
            <a:r>
              <a:rPr sz="1300" b="0">
                <a:solidFill>
                  <a:srgbClr val="1C2B3A"/>
                </a:solidFill>
                <a:latin typeface="Calibri"/>
              </a:rPr>
              <a:t>Purpose of AERIS, the three documents (specification, matrix, TDR) and the application.</a:t>
            </a:r>
          </a:p>
        </p:txBody>
      </p:sp>
      <p:sp>
        <p:nvSpPr>
          <p:cNvPr id="13" name="Rounded Rectangle 12"/>
          <p:cNvSpPr/>
          <p:nvPr/>
        </p:nvSpPr>
        <p:spPr>
          <a:xfrm>
            <a:off x="457200" y="2212848"/>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212848"/>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212848"/>
            <a:ext cx="804672" cy="804672"/>
          </a:xfrm>
          <a:prstGeom prst="rect">
            <a:avLst/>
          </a:prstGeom>
          <a:noFill/>
        </p:spPr>
        <p:txBody>
          <a:bodyPr wrap="square" anchor="ctr"/>
          <a:lstStyle/>
          <a:p>
            <a:pPr algn="ctr"/>
            <a:r>
              <a:rPr sz="1600" b="1">
                <a:solidFill>
                  <a:srgbClr val="FFFFFF"/>
                </a:solidFill>
                <a:latin typeface="Calibri"/>
              </a:rPr>
              <a:t>02</a:t>
            </a:r>
          </a:p>
        </p:txBody>
      </p:sp>
      <p:sp>
        <p:nvSpPr>
          <p:cNvPr id="16" name="TextBox 15"/>
          <p:cNvSpPr txBox="1"/>
          <p:nvPr/>
        </p:nvSpPr>
        <p:spPr>
          <a:xfrm>
            <a:off x="1417320" y="2286000"/>
            <a:ext cx="9966960" cy="310896"/>
          </a:xfrm>
          <a:prstGeom prst="rect">
            <a:avLst/>
          </a:prstGeom>
          <a:noFill/>
        </p:spPr>
        <p:txBody>
          <a:bodyPr wrap="square" anchor="t"/>
          <a:lstStyle/>
          <a:p>
            <a:pPr algn="l"/>
            <a:r>
              <a:rPr sz="1600" b="1">
                <a:solidFill>
                  <a:srgbClr val="0B2545"/>
                </a:solidFill>
                <a:latin typeface="Calibri"/>
              </a:rPr>
              <a:t>Work completed</a:t>
            </a:r>
          </a:p>
        </p:txBody>
      </p:sp>
      <p:sp>
        <p:nvSpPr>
          <p:cNvPr id="17" name="TextBox 16"/>
          <p:cNvSpPr txBox="1"/>
          <p:nvPr/>
        </p:nvSpPr>
        <p:spPr>
          <a:xfrm>
            <a:off x="1417320" y="2596896"/>
            <a:ext cx="9966960" cy="347472"/>
          </a:xfrm>
          <a:prstGeom prst="rect">
            <a:avLst/>
          </a:prstGeom>
          <a:noFill/>
        </p:spPr>
        <p:txBody>
          <a:bodyPr wrap="square" anchor="t"/>
          <a:lstStyle/>
          <a:p>
            <a:pPr algn="l"/>
            <a:r>
              <a:rPr sz="1300" b="0">
                <a:solidFill>
                  <a:srgbClr val="1C2B3A"/>
                </a:solidFill>
                <a:latin typeface="Calibri"/>
              </a:rPr>
              <a:t>Specification validation, conformity matrix, Matrix ↔ TDR, TDR benchmark.</a:t>
            </a:r>
          </a:p>
        </p:txBody>
      </p:sp>
      <p:sp>
        <p:nvSpPr>
          <p:cNvPr id="18" name="Rounded Rectangle 17"/>
          <p:cNvSpPr/>
          <p:nvPr/>
        </p:nvSpPr>
        <p:spPr>
          <a:xfrm>
            <a:off x="457200" y="3072384"/>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072384"/>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72384"/>
            <a:ext cx="804672" cy="804672"/>
          </a:xfrm>
          <a:prstGeom prst="rect">
            <a:avLst/>
          </a:prstGeom>
          <a:noFill/>
        </p:spPr>
        <p:txBody>
          <a:bodyPr wrap="square" anchor="ctr"/>
          <a:lstStyle/>
          <a:p>
            <a:pPr algn="ctr"/>
            <a:r>
              <a:rPr sz="1600" b="1">
                <a:solidFill>
                  <a:srgbClr val="FFFFFF"/>
                </a:solidFill>
                <a:latin typeface="Calibri"/>
              </a:rPr>
              <a:t>03</a:t>
            </a:r>
          </a:p>
        </p:txBody>
      </p:sp>
      <p:sp>
        <p:nvSpPr>
          <p:cNvPr id="21" name="TextBox 20"/>
          <p:cNvSpPr txBox="1"/>
          <p:nvPr/>
        </p:nvSpPr>
        <p:spPr>
          <a:xfrm>
            <a:off x="1417320" y="3145536"/>
            <a:ext cx="9966960" cy="310896"/>
          </a:xfrm>
          <a:prstGeom prst="rect">
            <a:avLst/>
          </a:prstGeom>
          <a:noFill/>
        </p:spPr>
        <p:txBody>
          <a:bodyPr wrap="square" anchor="t"/>
          <a:lstStyle/>
          <a:p>
            <a:pPr algn="l"/>
            <a:r>
              <a:rPr sz="1600" b="1">
                <a:solidFill>
                  <a:srgbClr val="0B2545"/>
                </a:solidFill>
                <a:latin typeface="Calibri"/>
              </a:rPr>
              <a:t>Collaboration</a:t>
            </a:r>
          </a:p>
        </p:txBody>
      </p:sp>
      <p:sp>
        <p:nvSpPr>
          <p:cNvPr id="22" name="TextBox 21"/>
          <p:cNvSpPr txBox="1"/>
          <p:nvPr/>
        </p:nvSpPr>
        <p:spPr>
          <a:xfrm>
            <a:off x="1417320" y="3456432"/>
            <a:ext cx="9966960" cy="347472"/>
          </a:xfrm>
          <a:prstGeom prst="rect">
            <a:avLst/>
          </a:prstGeom>
          <a:noFill/>
        </p:spPr>
        <p:txBody>
          <a:bodyPr wrap="square" anchor="t"/>
          <a:lstStyle/>
          <a:p>
            <a:pPr algn="l"/>
            <a:r>
              <a:rPr sz="1300" b="0">
                <a:solidFill>
                  <a:srgbClr val="1C2B3A"/>
                </a:solidFill>
                <a:latin typeface="Calibri"/>
              </a:rPr>
              <a:t>Imane El Brouji and Patrick Garcia — mechatronics input and explanations.</a:t>
            </a:r>
          </a:p>
        </p:txBody>
      </p:sp>
      <p:sp>
        <p:nvSpPr>
          <p:cNvPr id="23" name="Rounded Rectangle 22"/>
          <p:cNvSpPr/>
          <p:nvPr/>
        </p:nvSpPr>
        <p:spPr>
          <a:xfrm>
            <a:off x="457200" y="3931920"/>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931920"/>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931920"/>
            <a:ext cx="804672" cy="804672"/>
          </a:xfrm>
          <a:prstGeom prst="rect">
            <a:avLst/>
          </a:prstGeom>
          <a:noFill/>
        </p:spPr>
        <p:txBody>
          <a:bodyPr wrap="square" anchor="ctr"/>
          <a:lstStyle/>
          <a:p>
            <a:pPr algn="ctr"/>
            <a:r>
              <a:rPr sz="1600" b="1">
                <a:solidFill>
                  <a:srgbClr val="FFFFFF"/>
                </a:solidFill>
                <a:latin typeface="Calibri"/>
              </a:rPr>
              <a:t>04</a:t>
            </a:r>
          </a:p>
        </p:txBody>
      </p:sp>
      <p:sp>
        <p:nvSpPr>
          <p:cNvPr id="26" name="TextBox 25"/>
          <p:cNvSpPr txBox="1"/>
          <p:nvPr/>
        </p:nvSpPr>
        <p:spPr>
          <a:xfrm>
            <a:off x="1417320" y="4005072"/>
            <a:ext cx="9966960" cy="310896"/>
          </a:xfrm>
          <a:prstGeom prst="rect">
            <a:avLst/>
          </a:prstGeom>
          <a:noFill/>
        </p:spPr>
        <p:txBody>
          <a:bodyPr wrap="square" anchor="t"/>
          <a:lstStyle/>
          <a:p>
            <a:pPr algn="l"/>
            <a:r>
              <a:rPr sz="1600" b="1">
                <a:solidFill>
                  <a:srgbClr val="0B2545"/>
                </a:solidFill>
                <a:latin typeface="Calibri"/>
              </a:rPr>
              <a:t>Status and deployment</a:t>
            </a:r>
          </a:p>
        </p:txBody>
      </p:sp>
      <p:sp>
        <p:nvSpPr>
          <p:cNvPr id="27" name="TextBox 26"/>
          <p:cNvSpPr txBox="1"/>
          <p:nvPr/>
        </p:nvSpPr>
        <p:spPr>
          <a:xfrm>
            <a:off x="1417320" y="4315968"/>
            <a:ext cx="9966960" cy="347472"/>
          </a:xfrm>
          <a:prstGeom prst="rect">
            <a:avLst/>
          </a:prstGeom>
          <a:noFill/>
        </p:spPr>
        <p:txBody>
          <a:bodyPr wrap="square" anchor="t"/>
          <a:lstStyle/>
          <a:p>
            <a:pPr algn="l"/>
            <a:r>
              <a:rPr sz="1300" b="0">
                <a:solidFill>
                  <a:srgbClr val="1C2B3A"/>
                </a:solidFill>
                <a:latin typeface="Calibri"/>
              </a:rPr>
              <a:t>Work in progress. Team access after completion of this phase.</a:t>
            </a:r>
          </a:p>
        </p:txBody>
      </p:sp>
      <p:sp>
        <p:nvSpPr>
          <p:cNvPr id="28" name="Rounded Rectangle 27"/>
          <p:cNvSpPr/>
          <p:nvPr/>
        </p:nvSpPr>
        <p:spPr>
          <a:xfrm>
            <a:off x="457200" y="4791456"/>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791456"/>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791456"/>
            <a:ext cx="804672" cy="804672"/>
          </a:xfrm>
          <a:prstGeom prst="rect">
            <a:avLst/>
          </a:prstGeom>
          <a:noFill/>
        </p:spPr>
        <p:txBody>
          <a:bodyPr wrap="square" anchor="ctr"/>
          <a:lstStyle/>
          <a:p>
            <a:pPr algn="ctr"/>
            <a:r>
              <a:rPr sz="1600" b="1">
                <a:solidFill>
                  <a:srgbClr val="FFFFFF"/>
                </a:solidFill>
                <a:latin typeface="Calibri"/>
              </a:rPr>
              <a:t>05</a:t>
            </a:r>
          </a:p>
        </p:txBody>
      </p:sp>
      <p:sp>
        <p:nvSpPr>
          <p:cNvPr id="31" name="TextBox 30"/>
          <p:cNvSpPr txBox="1"/>
          <p:nvPr/>
        </p:nvSpPr>
        <p:spPr>
          <a:xfrm>
            <a:off x="1417320" y="4864608"/>
            <a:ext cx="9966960" cy="310896"/>
          </a:xfrm>
          <a:prstGeom prst="rect">
            <a:avLst/>
          </a:prstGeom>
          <a:noFill/>
        </p:spPr>
        <p:txBody>
          <a:bodyPr wrap="square" anchor="t"/>
          <a:lstStyle/>
          <a:p>
            <a:pPr algn="l"/>
            <a:r>
              <a:rPr sz="1600" b="1">
                <a:solidFill>
                  <a:srgbClr val="0B2545"/>
                </a:solidFill>
                <a:latin typeface="Calibri"/>
              </a:rPr>
              <a:t>AI training</a:t>
            </a:r>
          </a:p>
        </p:txBody>
      </p:sp>
      <p:sp>
        <p:nvSpPr>
          <p:cNvPr id="32" name="TextBox 31"/>
          <p:cNvSpPr txBox="1"/>
          <p:nvPr/>
        </p:nvSpPr>
        <p:spPr>
          <a:xfrm>
            <a:off x="1417320" y="5175504"/>
            <a:ext cx="9966960" cy="347472"/>
          </a:xfrm>
          <a:prstGeom prst="rect">
            <a:avLst/>
          </a:prstGeom>
          <a:noFill/>
        </p:spPr>
        <p:txBody>
          <a:bodyPr wrap="square" anchor="t"/>
          <a:lstStyle/>
          <a:p>
            <a:pPr algn="l"/>
            <a:r>
              <a:rPr sz="1300" b="0">
                <a:solidFill>
                  <a:srgbClr val="1C2B3A"/>
                </a:solidFill>
                <a:latin typeface="Calibri"/>
              </a:rPr>
              <a:t>Upcoming training and use within the Mechatronics team.</a:t>
            </a:r>
          </a:p>
        </p:txBody>
      </p:sp>
      <p:sp>
        <p:nvSpPr>
          <p:cNvPr id="33" name="Rounded Rectangle 32"/>
          <p:cNvSpPr/>
          <p:nvPr/>
        </p:nvSpPr>
        <p:spPr>
          <a:xfrm>
            <a:off x="457200" y="5650992"/>
            <a:ext cx="11247120" cy="8046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5650992"/>
            <a:ext cx="804672" cy="8046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650992"/>
            <a:ext cx="804672" cy="804672"/>
          </a:xfrm>
          <a:prstGeom prst="rect">
            <a:avLst/>
          </a:prstGeom>
          <a:noFill/>
        </p:spPr>
        <p:txBody>
          <a:bodyPr wrap="square" anchor="ctr"/>
          <a:lstStyle/>
          <a:p>
            <a:pPr algn="ctr"/>
            <a:r>
              <a:rPr sz="1600" b="1">
                <a:solidFill>
                  <a:srgbClr val="FFFFFF"/>
                </a:solidFill>
                <a:latin typeface="Calibri"/>
              </a:rPr>
              <a:t>06</a:t>
            </a:r>
          </a:p>
        </p:txBody>
      </p:sp>
      <p:sp>
        <p:nvSpPr>
          <p:cNvPr id="36" name="TextBox 35"/>
          <p:cNvSpPr txBox="1"/>
          <p:nvPr/>
        </p:nvSpPr>
        <p:spPr>
          <a:xfrm>
            <a:off x="1417320" y="5724144"/>
            <a:ext cx="9966960" cy="310896"/>
          </a:xfrm>
          <a:prstGeom prst="rect">
            <a:avLst/>
          </a:prstGeom>
          <a:noFill/>
        </p:spPr>
        <p:txBody>
          <a:bodyPr wrap="square" anchor="t"/>
          <a:lstStyle/>
          <a:p>
            <a:pPr algn="l"/>
            <a:r>
              <a:rPr sz="1600" b="1">
                <a:solidFill>
                  <a:srgbClr val="0B2545"/>
                </a:solidFill>
                <a:latin typeface="Calibri"/>
              </a:rPr>
              <a:t>Working arrangements</a:t>
            </a:r>
          </a:p>
        </p:txBody>
      </p:sp>
      <p:sp>
        <p:nvSpPr>
          <p:cNvPr id="37" name="TextBox 36"/>
          <p:cNvSpPr txBox="1"/>
          <p:nvPr/>
        </p:nvSpPr>
        <p:spPr>
          <a:xfrm>
            <a:off x="1417320" y="6035040"/>
            <a:ext cx="9966960" cy="347472"/>
          </a:xfrm>
          <a:prstGeom prst="rect">
            <a:avLst/>
          </a:prstGeom>
          <a:noFill/>
        </p:spPr>
        <p:txBody>
          <a:bodyPr wrap="square" anchor="t"/>
          <a:lstStyle/>
          <a:p>
            <a:pPr algn="l"/>
            <a:r>
              <a:rPr sz="1300" b="0">
                <a:solidFill>
                  <a:srgbClr val="1C2B3A"/>
                </a:solidFill>
                <a:latin typeface="Calibri"/>
              </a:rPr>
              <a:t>Télétravail Wednesday and Friday; first school period over the next two weeks.</a:t>
            </a:r>
          </a:p>
        </p:txBody>
      </p:sp>
      <p:sp>
        <p:nvSpPr>
          <p:cNvPr id="38" name="Rectangle 37"/>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40" name="TextBox 39"/>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THE PROJECT</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What we are working on</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AERIS supports Mechatronics Engineering in the review of three documents that must remain consistent.</a:t>
            </a:r>
          </a:p>
        </p:txBody>
      </p:sp>
      <p:sp>
        <p:nvSpPr>
          <p:cNvPr id="8" name="Rounded Rectangle 7"/>
          <p:cNvSpPr/>
          <p:nvPr/>
        </p:nvSpPr>
        <p:spPr>
          <a:xfrm>
            <a:off x="411480" y="1325880"/>
            <a:ext cx="11338560" cy="1234440"/>
          </a:xfrm>
          <a:prstGeom prst="roundRect">
            <a:avLst>
              <a:gd name="adj" fmla="val 8000"/>
            </a:avLst>
          </a:prstGeom>
          <a:solidFill>
            <a:srgbClr val="E8EEFB"/>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10881360" cy="1051560"/>
          </a:xfrm>
          <a:prstGeom prst="rect">
            <a:avLst/>
          </a:prstGeom>
          <a:noFill/>
        </p:spPr>
        <p:txBody>
          <a:bodyPr wrap="square" anchor="t"/>
          <a:lstStyle/>
          <a:p>
            <a:pPr algn="l"/>
            <a:r>
              <a:rPr sz="1400" b="0">
                <a:solidFill>
                  <a:srgbClr val="0B2545"/>
                </a:solidFill>
                <a:latin typeface="Calibri"/>
              </a:rPr>
              <a:t>Objective: provide a structured first analysis of supplier files, reduce review time and highlight inconsistencies — while the engineer remains responsible for the technical decision.
AERIS does not approve a supplier and does not replace Quality or Purchasing.</a:t>
            </a:r>
          </a:p>
        </p:txBody>
      </p:sp>
      <p:sp>
        <p:nvSpPr>
          <p:cNvPr id="10" name="Rounded Rectangle 9"/>
          <p:cNvSpPr/>
          <p:nvPr/>
        </p:nvSpPr>
        <p:spPr>
          <a:xfrm>
            <a:off x="411480" y="2724912"/>
            <a:ext cx="3611880" cy="361188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724912"/>
            <a:ext cx="3611880" cy="91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907792"/>
            <a:ext cx="3200400" cy="502920"/>
          </a:xfrm>
          <a:prstGeom prst="rect">
            <a:avLst/>
          </a:prstGeom>
          <a:noFill/>
        </p:spPr>
        <p:txBody>
          <a:bodyPr wrap="square" anchor="t"/>
          <a:lstStyle/>
          <a:p>
            <a:pPr algn="l"/>
            <a:r>
              <a:rPr sz="1500" b="1">
                <a:solidFill>
                  <a:srgbClr val="0B2545"/>
                </a:solidFill>
                <a:latin typeface="Calibri"/>
              </a:rPr>
              <a:t>1. Specification (CTS)</a:t>
            </a:r>
          </a:p>
        </p:txBody>
      </p:sp>
      <p:sp>
        <p:nvSpPr>
          <p:cNvPr id="13" name="TextBox 12"/>
          <p:cNvSpPr txBox="1"/>
          <p:nvPr/>
        </p:nvSpPr>
        <p:spPr>
          <a:xfrm>
            <a:off x="612648" y="3429000"/>
            <a:ext cx="3200400" cy="2697480"/>
          </a:xfrm>
          <a:prstGeom prst="rect">
            <a:avLst/>
          </a:prstGeom>
          <a:noFill/>
        </p:spPr>
        <p:txBody>
          <a:bodyPr wrap="square" anchor="t"/>
          <a:lstStyle/>
          <a:p>
            <a:pPr algn="l"/>
            <a:r>
              <a:rPr sz="1300" b="0">
                <a:solidFill>
                  <a:srgbClr val="1C2B3A"/>
                </a:solidFill>
                <a:latin typeface="Calibri"/>
              </a:rPr>
              <a:t>Issued by Stellantis.
Defines the requirements of the component: performance, interfaces, environment, safety, quality.
Contractual reference of what “compliant” means.</a:t>
            </a:r>
          </a:p>
        </p:txBody>
      </p:sp>
      <p:sp>
        <p:nvSpPr>
          <p:cNvPr id="14" name="Rounded Rectangle 13"/>
          <p:cNvSpPr/>
          <p:nvPr/>
        </p:nvSpPr>
        <p:spPr>
          <a:xfrm>
            <a:off x="4206240" y="2724912"/>
            <a:ext cx="3611880" cy="361188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40" y="2724912"/>
            <a:ext cx="3611880" cy="91440"/>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7408" y="2907792"/>
            <a:ext cx="3200400" cy="502920"/>
          </a:xfrm>
          <a:prstGeom prst="rect">
            <a:avLst/>
          </a:prstGeom>
          <a:noFill/>
        </p:spPr>
        <p:txBody>
          <a:bodyPr wrap="square" anchor="t"/>
          <a:lstStyle/>
          <a:p>
            <a:pPr algn="l"/>
            <a:r>
              <a:rPr sz="1500" b="1">
                <a:solidFill>
                  <a:srgbClr val="0B2545"/>
                </a:solidFill>
                <a:latin typeface="Calibri"/>
              </a:rPr>
              <a:t>2. Conformity matrix</a:t>
            </a:r>
          </a:p>
        </p:txBody>
      </p:sp>
      <p:sp>
        <p:nvSpPr>
          <p:cNvPr id="17" name="TextBox 16"/>
          <p:cNvSpPr txBox="1"/>
          <p:nvPr/>
        </p:nvSpPr>
        <p:spPr>
          <a:xfrm>
            <a:off x="4407408" y="3429000"/>
            <a:ext cx="3200400" cy="2697480"/>
          </a:xfrm>
          <a:prstGeom prst="rect">
            <a:avLst/>
          </a:prstGeom>
          <a:noFill/>
        </p:spPr>
        <p:txBody>
          <a:bodyPr wrap="square" anchor="t"/>
          <a:lstStyle/>
          <a:p>
            <a:pPr algn="l"/>
            <a:r>
              <a:rPr sz="1300" b="0">
                <a:solidFill>
                  <a:srgbClr val="1C2B3A"/>
                </a:solidFill>
                <a:latin typeface="Calibri"/>
              </a:rPr>
              <a:t>Completed by the supplier.
One row per requirement. Status OK, NOK or NA, plus a comment.
Official supplier declaration.</a:t>
            </a:r>
          </a:p>
        </p:txBody>
      </p:sp>
      <p:sp>
        <p:nvSpPr>
          <p:cNvPr id="18" name="Rounded Rectangle 17"/>
          <p:cNvSpPr/>
          <p:nvPr/>
        </p:nvSpPr>
        <p:spPr>
          <a:xfrm>
            <a:off x="8001000" y="2724912"/>
            <a:ext cx="3611880" cy="361188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2724912"/>
            <a:ext cx="3611880" cy="91440"/>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2168" y="2907792"/>
            <a:ext cx="3200400" cy="502920"/>
          </a:xfrm>
          <a:prstGeom prst="rect">
            <a:avLst/>
          </a:prstGeom>
          <a:noFill/>
        </p:spPr>
        <p:txBody>
          <a:bodyPr wrap="square" anchor="t"/>
          <a:lstStyle/>
          <a:p>
            <a:pPr algn="l"/>
            <a:r>
              <a:rPr sz="1500" b="1">
                <a:solidFill>
                  <a:srgbClr val="0B2545"/>
                </a:solidFill>
                <a:latin typeface="Calibri"/>
              </a:rPr>
              <a:t>3. TDR</a:t>
            </a:r>
          </a:p>
        </p:txBody>
      </p:sp>
      <p:sp>
        <p:nvSpPr>
          <p:cNvPr id="21" name="TextBox 20"/>
          <p:cNvSpPr txBox="1"/>
          <p:nvPr/>
        </p:nvSpPr>
        <p:spPr>
          <a:xfrm>
            <a:off x="8202168" y="3429000"/>
            <a:ext cx="3200400" cy="2697480"/>
          </a:xfrm>
          <a:prstGeom prst="rect">
            <a:avLst/>
          </a:prstGeom>
          <a:noFill/>
        </p:spPr>
        <p:txBody>
          <a:bodyPr wrap="square" anchor="t"/>
          <a:lstStyle/>
          <a:p>
            <a:pPr algn="l"/>
            <a:r>
              <a:rPr sz="1300" b="0">
                <a:solidFill>
                  <a:srgbClr val="1C2B3A"/>
                </a:solidFill>
                <a:latin typeface="Calibri"/>
              </a:rPr>
              <a:t>Technical Design Review / dossier.
PowerPoint or PDF: architecture, measured values, tests, design choices.
Supporting evidence behind the declaration.</a:t>
            </a:r>
          </a:p>
        </p:txBody>
      </p:sp>
      <p:sp>
        <p:nvSpPr>
          <p:cNvPr id="22" name="Rectangle 21"/>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24" name="TextBox 23"/>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THE PROJECT</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Why AERIS exists, and what it does</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The review is still largely manual. AERIS performs a first reading of the files in a browser.</a:t>
            </a:r>
          </a:p>
        </p:txBody>
      </p:sp>
      <p:sp>
        <p:nvSpPr>
          <p:cNvPr id="8" name="Rounded Rectangle 7"/>
          <p:cNvSpPr/>
          <p:nvPr/>
        </p:nvSpPr>
        <p:spPr>
          <a:xfrm>
            <a:off x="411480" y="1353312"/>
            <a:ext cx="5577840" cy="117043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53312"/>
            <a:ext cx="91440" cy="1170432"/>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44752"/>
            <a:ext cx="5120640" cy="292608"/>
          </a:xfrm>
          <a:prstGeom prst="rect">
            <a:avLst/>
          </a:prstGeom>
          <a:noFill/>
        </p:spPr>
        <p:txBody>
          <a:bodyPr wrap="square" anchor="t"/>
          <a:lstStyle/>
          <a:p>
            <a:pPr algn="l"/>
            <a:r>
              <a:rPr sz="1400" b="1">
                <a:solidFill>
                  <a:srgbClr val="0B2545"/>
                </a:solidFill>
                <a:latin typeface="Calibri"/>
              </a:rPr>
              <a:t>Review time</a:t>
            </a:r>
          </a:p>
        </p:txBody>
      </p:sp>
      <p:sp>
        <p:nvSpPr>
          <p:cNvPr id="11" name="TextBox 10"/>
          <p:cNvSpPr txBox="1"/>
          <p:nvPr/>
        </p:nvSpPr>
        <p:spPr>
          <a:xfrm>
            <a:off x="685800" y="1755648"/>
            <a:ext cx="5120640" cy="676656"/>
          </a:xfrm>
          <a:prstGeom prst="rect">
            <a:avLst/>
          </a:prstGeom>
          <a:noFill/>
        </p:spPr>
        <p:txBody>
          <a:bodyPr wrap="square" anchor="t"/>
          <a:lstStyle/>
          <a:p>
            <a:pPr algn="l"/>
            <a:r>
              <a:rPr sz="1200" b="0">
                <a:solidFill>
                  <a:srgbClr val="1C2B3A"/>
                </a:solidFill>
                <a:latin typeface="Calibri"/>
              </a:rPr>
              <a:t>A specification, a matrix of several hundred rows and a TDR of dozens of slides are reviewed mainly by hand.</a:t>
            </a:r>
          </a:p>
        </p:txBody>
      </p:sp>
      <p:sp>
        <p:nvSpPr>
          <p:cNvPr id="12" name="Rounded Rectangle 11"/>
          <p:cNvSpPr/>
          <p:nvPr/>
        </p:nvSpPr>
        <p:spPr>
          <a:xfrm>
            <a:off x="411480" y="2615184"/>
            <a:ext cx="5577840" cy="117043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615184"/>
            <a:ext cx="91440" cy="1170432"/>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06624"/>
            <a:ext cx="5120640" cy="292608"/>
          </a:xfrm>
          <a:prstGeom prst="rect">
            <a:avLst/>
          </a:prstGeom>
          <a:noFill/>
        </p:spPr>
        <p:txBody>
          <a:bodyPr wrap="square" anchor="t"/>
          <a:lstStyle/>
          <a:p>
            <a:pPr algn="l"/>
            <a:r>
              <a:rPr sz="1400" b="1">
                <a:solidFill>
                  <a:srgbClr val="0B2545"/>
                </a:solidFill>
                <a:latin typeface="Calibri"/>
              </a:rPr>
              <a:t>Incomplete OK</a:t>
            </a:r>
          </a:p>
        </p:txBody>
      </p:sp>
      <p:sp>
        <p:nvSpPr>
          <p:cNvPr id="15" name="TextBox 14"/>
          <p:cNvSpPr txBox="1"/>
          <p:nvPr/>
        </p:nvSpPr>
        <p:spPr>
          <a:xfrm>
            <a:off x="685800" y="3017520"/>
            <a:ext cx="5120640" cy="676656"/>
          </a:xfrm>
          <a:prstGeom prst="rect">
            <a:avLst/>
          </a:prstGeom>
          <a:noFill/>
        </p:spPr>
        <p:txBody>
          <a:bodyPr wrap="square" anchor="t"/>
          <a:lstStyle/>
          <a:p>
            <a:pPr algn="l"/>
            <a:r>
              <a:rPr sz="1200" b="0">
                <a:solidFill>
                  <a:srgbClr val="1C2B3A"/>
                </a:solidFill>
                <a:latin typeface="Calibri"/>
              </a:rPr>
              <a:t>A status marked OK with the comment “pending validation” is not confirmed conformity.</a:t>
            </a:r>
          </a:p>
        </p:txBody>
      </p:sp>
      <p:sp>
        <p:nvSpPr>
          <p:cNvPr id="16" name="Rounded Rectangle 15"/>
          <p:cNvSpPr/>
          <p:nvPr/>
        </p:nvSpPr>
        <p:spPr>
          <a:xfrm>
            <a:off x="411480" y="3877056"/>
            <a:ext cx="5577840" cy="117043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877056"/>
            <a:ext cx="91440" cy="1170432"/>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68496"/>
            <a:ext cx="5120640" cy="292608"/>
          </a:xfrm>
          <a:prstGeom prst="rect">
            <a:avLst/>
          </a:prstGeom>
          <a:noFill/>
        </p:spPr>
        <p:txBody>
          <a:bodyPr wrap="square" anchor="t"/>
          <a:lstStyle/>
          <a:p>
            <a:pPr algn="l"/>
            <a:r>
              <a:rPr sz="1400" b="1">
                <a:solidFill>
                  <a:srgbClr val="0B2545"/>
                </a:solidFill>
                <a:latin typeface="Calibri"/>
              </a:rPr>
              <a:t>File inconsistency</a:t>
            </a:r>
          </a:p>
        </p:txBody>
      </p:sp>
      <p:sp>
        <p:nvSpPr>
          <p:cNvPr id="19" name="TextBox 18"/>
          <p:cNvSpPr txBox="1"/>
          <p:nvPr/>
        </p:nvSpPr>
        <p:spPr>
          <a:xfrm>
            <a:off x="685800" y="4279392"/>
            <a:ext cx="5120640" cy="676656"/>
          </a:xfrm>
          <a:prstGeom prst="rect">
            <a:avLst/>
          </a:prstGeom>
          <a:noFill/>
        </p:spPr>
        <p:txBody>
          <a:bodyPr wrap="square" anchor="t"/>
          <a:lstStyle/>
          <a:p>
            <a:pPr algn="l"/>
            <a:r>
              <a:rPr sz="1200" b="0">
                <a:solidFill>
                  <a:srgbClr val="1C2B3A"/>
                </a:solidFill>
                <a:latin typeface="Calibri"/>
              </a:rPr>
              <a:t>The matrix may declare OK while the TDR shows a lower value (example: ≥ 400:1 required, 380:1 presented).</a:t>
            </a:r>
          </a:p>
        </p:txBody>
      </p:sp>
      <p:sp>
        <p:nvSpPr>
          <p:cNvPr id="20" name="Rounded Rectangle 19"/>
          <p:cNvSpPr/>
          <p:nvPr/>
        </p:nvSpPr>
        <p:spPr>
          <a:xfrm>
            <a:off x="411480" y="5138928"/>
            <a:ext cx="5577840" cy="117043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5138928"/>
            <a:ext cx="91440" cy="1170432"/>
          </a:xfrm>
          <a:prstGeom prst="rect">
            <a:avLst/>
          </a:prstGeom>
          <a:solidFill>
            <a:srgbClr val="B326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30368"/>
            <a:ext cx="5120640" cy="292608"/>
          </a:xfrm>
          <a:prstGeom prst="rect">
            <a:avLst/>
          </a:prstGeom>
          <a:noFill/>
        </p:spPr>
        <p:txBody>
          <a:bodyPr wrap="square" anchor="t"/>
          <a:lstStyle/>
          <a:p>
            <a:pPr algn="l"/>
            <a:r>
              <a:rPr sz="1400" b="1">
                <a:solidFill>
                  <a:srgbClr val="0B2545"/>
                </a:solidFill>
                <a:latin typeface="Calibri"/>
              </a:rPr>
              <a:t>Supplier comparison</a:t>
            </a:r>
          </a:p>
        </p:txBody>
      </p:sp>
      <p:sp>
        <p:nvSpPr>
          <p:cNvPr id="23" name="TextBox 22"/>
          <p:cNvSpPr txBox="1"/>
          <p:nvPr/>
        </p:nvSpPr>
        <p:spPr>
          <a:xfrm>
            <a:off x="685800" y="5541264"/>
            <a:ext cx="5120640" cy="676656"/>
          </a:xfrm>
          <a:prstGeom prst="rect">
            <a:avLst/>
          </a:prstGeom>
          <a:noFill/>
        </p:spPr>
        <p:txBody>
          <a:bodyPr wrap="square" anchor="t"/>
          <a:lstStyle/>
          <a:p>
            <a:pPr algn="l"/>
            <a:r>
              <a:rPr sz="1200" b="0">
                <a:solidFill>
                  <a:srgbClr val="1C2B3A"/>
                </a:solidFill>
                <a:latin typeface="Calibri"/>
              </a:rPr>
              <a:t>Comparing several technical offers on the same criteria is currently time-consuming.</a:t>
            </a:r>
          </a:p>
        </p:txBody>
      </p:sp>
      <p:sp>
        <p:nvSpPr>
          <p:cNvPr id="24" name="Rounded Rectangle 23"/>
          <p:cNvSpPr/>
          <p:nvPr/>
        </p:nvSpPr>
        <p:spPr>
          <a:xfrm>
            <a:off x="6217920" y="1353312"/>
            <a:ext cx="5532120" cy="4956048"/>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1353312"/>
            <a:ext cx="73152" cy="495604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1481328"/>
            <a:ext cx="5221224" cy="347472"/>
          </a:xfrm>
          <a:prstGeom prst="rect">
            <a:avLst/>
          </a:prstGeom>
          <a:noFill/>
        </p:spPr>
        <p:txBody>
          <a:bodyPr wrap="square" anchor="t"/>
          <a:lstStyle/>
          <a:p>
            <a:pPr algn="l"/>
            <a:r>
              <a:rPr sz="1700" b="1">
                <a:solidFill>
                  <a:srgbClr val="0B2545"/>
                </a:solidFill>
                <a:latin typeface="Calibri"/>
              </a:rPr>
              <a:t>What AERIS does</a:t>
            </a:r>
          </a:p>
        </p:txBody>
      </p:sp>
      <p:sp>
        <p:nvSpPr>
          <p:cNvPr id="27" name="TextBox 26"/>
          <p:cNvSpPr txBox="1"/>
          <p:nvPr/>
        </p:nvSpPr>
        <p:spPr>
          <a:xfrm>
            <a:off x="6419088" y="1810512"/>
            <a:ext cx="5221224" cy="4370832"/>
          </a:xfrm>
          <a:prstGeom prst="rect">
            <a:avLst/>
          </a:prstGeom>
          <a:noFill/>
        </p:spPr>
        <p:txBody>
          <a:bodyPr wrap="square" anchor="t"/>
          <a:lstStyle/>
          <a:p>
            <a:pPr algn="l"/>
            <a:r>
              <a:rPr sz="1300" b="0">
                <a:solidFill>
                  <a:srgbClr val="1C2B3A"/>
                </a:solidFill>
                <a:latin typeface="Calibri"/>
              </a:rPr>
              <a:t>The specification, the matrix and the TDR are uploaded in the browser.
The application identifies each requirement, its status, and the matching page or slide in the TDR.
It highlights inconsistencies and produces a colour-coded Excel report for the review meeting.
No installation is required for the reviewer.
The technical decision remains human. AERIS does not issue a certificate of conformity.</a:t>
            </a:r>
          </a:p>
        </p:txBody>
      </p:sp>
      <p:sp>
        <p:nvSpPr>
          <p:cNvPr id="28" name="Rectangle 27"/>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30" name="TextBox 29"/>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THE APPLICATION</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The interface — six functions</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A single browser page. Only the relevant function is used.</a:t>
            </a:r>
          </a:p>
        </p:txBody>
      </p:sp>
      <p:sp>
        <p:nvSpPr>
          <p:cNvPr id="8" name="Rounded Rectangle 7"/>
          <p:cNvSpPr/>
          <p:nvPr/>
        </p:nvSpPr>
        <p:spPr>
          <a:xfrm>
            <a:off x="411480" y="1389888"/>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3566160" cy="91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645920"/>
            <a:ext cx="3163824" cy="640080"/>
          </a:xfrm>
          <a:prstGeom prst="rect">
            <a:avLst/>
          </a:prstGeom>
          <a:noFill/>
        </p:spPr>
        <p:txBody>
          <a:bodyPr wrap="square" anchor="t"/>
          <a:lstStyle/>
          <a:p>
            <a:pPr algn="l"/>
            <a:r>
              <a:rPr sz="1500" b="1">
                <a:solidFill>
                  <a:srgbClr val="0B2545"/>
                </a:solidFill>
                <a:latin typeface="Calibri"/>
              </a:rPr>
              <a:t>Specification validation</a:t>
            </a:r>
          </a:p>
        </p:txBody>
      </p:sp>
      <p:sp>
        <p:nvSpPr>
          <p:cNvPr id="11" name="TextBox 10"/>
          <p:cNvSpPr txBox="1"/>
          <p:nvPr/>
        </p:nvSpPr>
        <p:spPr>
          <a:xfrm>
            <a:off x="612648" y="2395728"/>
            <a:ext cx="3163824" cy="1005840"/>
          </a:xfrm>
          <a:prstGeom prst="rect">
            <a:avLst/>
          </a:prstGeom>
          <a:noFill/>
        </p:spPr>
        <p:txBody>
          <a:bodyPr wrap="square" anchor="t"/>
          <a:lstStyle/>
          <a:p>
            <a:pPr algn="l"/>
            <a:r>
              <a:rPr sz="1300" b="0">
                <a:solidFill>
                  <a:srgbClr val="1C2B3A"/>
                </a:solidFill>
                <a:latin typeface="Calibri"/>
              </a:rPr>
              <a:t>Checks completeness and writing quality of the CTS before it is issued.</a:t>
            </a:r>
          </a:p>
        </p:txBody>
      </p:sp>
      <p:sp>
        <p:nvSpPr>
          <p:cNvPr id="12" name="Rounded Rectangle 11"/>
          <p:cNvSpPr/>
          <p:nvPr/>
        </p:nvSpPr>
        <p:spPr>
          <a:xfrm>
            <a:off x="4160520" y="1389888"/>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1389888"/>
            <a:ext cx="3566160" cy="91440"/>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645920"/>
            <a:ext cx="3163824" cy="640080"/>
          </a:xfrm>
          <a:prstGeom prst="rect">
            <a:avLst/>
          </a:prstGeom>
          <a:noFill/>
        </p:spPr>
        <p:txBody>
          <a:bodyPr wrap="square" anchor="t"/>
          <a:lstStyle/>
          <a:p>
            <a:pPr algn="l"/>
            <a:r>
              <a:rPr sz="1500" b="1">
                <a:solidFill>
                  <a:srgbClr val="0B2545"/>
                </a:solidFill>
                <a:latin typeface="Calibri"/>
              </a:rPr>
              <a:t>Conformity matrix</a:t>
            </a:r>
          </a:p>
        </p:txBody>
      </p:sp>
      <p:sp>
        <p:nvSpPr>
          <p:cNvPr id="15" name="TextBox 14"/>
          <p:cNvSpPr txBox="1"/>
          <p:nvPr/>
        </p:nvSpPr>
        <p:spPr>
          <a:xfrm>
            <a:off x="4361688" y="2395728"/>
            <a:ext cx="3163824" cy="1005840"/>
          </a:xfrm>
          <a:prstGeom prst="rect">
            <a:avLst/>
          </a:prstGeom>
          <a:noFill/>
        </p:spPr>
        <p:txBody>
          <a:bodyPr wrap="square" anchor="t"/>
          <a:lstStyle/>
          <a:p>
            <a:pPr algn="l"/>
            <a:r>
              <a:rPr sz="1300" b="0">
                <a:solidFill>
                  <a:srgbClr val="1C2B3A"/>
                </a:solidFill>
                <a:latin typeface="Calibri"/>
              </a:rPr>
              <a:t>Analyses OK / NOK / NA statuses and flags contradictory OK comments.</a:t>
            </a:r>
          </a:p>
        </p:txBody>
      </p:sp>
      <p:sp>
        <p:nvSpPr>
          <p:cNvPr id="16" name="Rounded Rectangle 15"/>
          <p:cNvSpPr/>
          <p:nvPr/>
        </p:nvSpPr>
        <p:spPr>
          <a:xfrm>
            <a:off x="7909560" y="1389888"/>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09560" y="1389888"/>
            <a:ext cx="3566160" cy="91440"/>
          </a:xfrm>
          <a:prstGeom prst="rect">
            <a:avLst/>
          </a:prstGeom>
          <a:solidFill>
            <a:srgbClr val="123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1645920"/>
            <a:ext cx="3163824" cy="640080"/>
          </a:xfrm>
          <a:prstGeom prst="rect">
            <a:avLst/>
          </a:prstGeom>
          <a:noFill/>
        </p:spPr>
        <p:txBody>
          <a:bodyPr wrap="square" anchor="t"/>
          <a:lstStyle/>
          <a:p>
            <a:pPr algn="l"/>
            <a:r>
              <a:rPr sz="1500" b="1">
                <a:solidFill>
                  <a:srgbClr val="0B2545"/>
                </a:solidFill>
                <a:latin typeface="Calibri"/>
              </a:rPr>
              <a:t>Matrix ↔ TDR</a:t>
            </a:r>
          </a:p>
        </p:txBody>
      </p:sp>
      <p:sp>
        <p:nvSpPr>
          <p:cNvPr id="19" name="TextBox 18"/>
          <p:cNvSpPr txBox="1"/>
          <p:nvPr/>
        </p:nvSpPr>
        <p:spPr>
          <a:xfrm>
            <a:off x="8110728" y="2395728"/>
            <a:ext cx="3163824" cy="1005840"/>
          </a:xfrm>
          <a:prstGeom prst="rect">
            <a:avLst/>
          </a:prstGeom>
          <a:noFill/>
        </p:spPr>
        <p:txBody>
          <a:bodyPr wrap="square" anchor="t"/>
          <a:lstStyle/>
          <a:p>
            <a:pPr algn="l"/>
            <a:r>
              <a:rPr sz="1300" b="0">
                <a:solidFill>
                  <a:srgbClr val="1C2B3A"/>
                </a:solidFill>
                <a:latin typeface="Calibri"/>
              </a:rPr>
              <a:t>Compares the supplier declaration with the evidence in the TDR.</a:t>
            </a:r>
          </a:p>
        </p:txBody>
      </p:sp>
      <p:sp>
        <p:nvSpPr>
          <p:cNvPr id="20" name="Rounded Rectangle 19"/>
          <p:cNvSpPr/>
          <p:nvPr/>
        </p:nvSpPr>
        <p:spPr>
          <a:xfrm>
            <a:off x="411480" y="3794760"/>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3794760"/>
            <a:ext cx="3566160" cy="91440"/>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050792"/>
            <a:ext cx="3163824" cy="640080"/>
          </a:xfrm>
          <a:prstGeom prst="rect">
            <a:avLst/>
          </a:prstGeom>
          <a:noFill/>
        </p:spPr>
        <p:txBody>
          <a:bodyPr wrap="square" anchor="t"/>
          <a:lstStyle/>
          <a:p>
            <a:pPr algn="l"/>
            <a:r>
              <a:rPr sz="1500" b="1">
                <a:solidFill>
                  <a:srgbClr val="0B2545"/>
                </a:solidFill>
                <a:latin typeface="Calibri"/>
              </a:rPr>
              <a:t>TDR benchmark</a:t>
            </a:r>
          </a:p>
        </p:txBody>
      </p:sp>
      <p:sp>
        <p:nvSpPr>
          <p:cNvPr id="23" name="TextBox 22"/>
          <p:cNvSpPr txBox="1"/>
          <p:nvPr/>
        </p:nvSpPr>
        <p:spPr>
          <a:xfrm>
            <a:off x="612648" y="4800600"/>
            <a:ext cx="3163824" cy="1005840"/>
          </a:xfrm>
          <a:prstGeom prst="rect">
            <a:avLst/>
          </a:prstGeom>
          <a:noFill/>
        </p:spPr>
        <p:txBody>
          <a:bodyPr wrap="square" anchor="t"/>
          <a:lstStyle/>
          <a:p>
            <a:pPr algn="l"/>
            <a:r>
              <a:rPr sz="1300" b="0">
                <a:solidFill>
                  <a:srgbClr val="1C2B3A"/>
                </a:solidFill>
                <a:latin typeface="Calibri"/>
              </a:rPr>
              <a:t>Compares several suppliers on the same technical criteria, excluding price.</a:t>
            </a:r>
          </a:p>
        </p:txBody>
      </p:sp>
      <p:sp>
        <p:nvSpPr>
          <p:cNvPr id="24" name="Rounded Rectangle 23"/>
          <p:cNvSpPr/>
          <p:nvPr/>
        </p:nvSpPr>
        <p:spPr>
          <a:xfrm>
            <a:off x="4160520" y="3794760"/>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60520" y="3794760"/>
            <a:ext cx="3566160" cy="91440"/>
          </a:xfrm>
          <a:prstGeom prst="rect">
            <a:avLst/>
          </a:prstGeom>
          <a:solidFill>
            <a:srgbClr val="5B6B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61688" y="4050792"/>
            <a:ext cx="3163824" cy="640080"/>
          </a:xfrm>
          <a:prstGeom prst="rect">
            <a:avLst/>
          </a:prstGeom>
          <a:noFill/>
        </p:spPr>
        <p:txBody>
          <a:bodyPr wrap="square" anchor="t"/>
          <a:lstStyle/>
          <a:p>
            <a:pPr algn="l"/>
            <a:r>
              <a:rPr sz="1500" b="1">
                <a:solidFill>
                  <a:srgbClr val="0B2545"/>
                </a:solidFill>
                <a:latin typeface="Calibri"/>
              </a:rPr>
              <a:t>Version follow-up</a:t>
            </a:r>
          </a:p>
        </p:txBody>
      </p:sp>
      <p:sp>
        <p:nvSpPr>
          <p:cNvPr id="27" name="TextBox 26"/>
          <p:cNvSpPr txBox="1"/>
          <p:nvPr/>
        </p:nvSpPr>
        <p:spPr>
          <a:xfrm>
            <a:off x="4361688" y="4800600"/>
            <a:ext cx="3163824" cy="1005840"/>
          </a:xfrm>
          <a:prstGeom prst="rect">
            <a:avLst/>
          </a:prstGeom>
          <a:noFill/>
        </p:spPr>
        <p:txBody>
          <a:bodyPr wrap="square" anchor="t"/>
          <a:lstStyle/>
          <a:p>
            <a:pPr algn="l"/>
            <a:r>
              <a:rPr sz="1300" b="0">
                <a:solidFill>
                  <a:srgbClr val="1C2B3A"/>
                </a:solidFill>
                <a:latin typeface="Calibri"/>
              </a:rPr>
              <a:t>Identifies changes between successive versions of the same matrix.</a:t>
            </a:r>
          </a:p>
        </p:txBody>
      </p:sp>
      <p:sp>
        <p:nvSpPr>
          <p:cNvPr id="28" name="Rounded Rectangle 27"/>
          <p:cNvSpPr/>
          <p:nvPr/>
        </p:nvSpPr>
        <p:spPr>
          <a:xfrm>
            <a:off x="7909560" y="3794760"/>
            <a:ext cx="3566160" cy="21945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09560" y="3794760"/>
            <a:ext cx="3566160" cy="91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0728" y="4050792"/>
            <a:ext cx="3163824" cy="640080"/>
          </a:xfrm>
          <a:prstGeom prst="rect">
            <a:avLst/>
          </a:prstGeom>
          <a:noFill/>
        </p:spPr>
        <p:txBody>
          <a:bodyPr wrap="square" anchor="t"/>
          <a:lstStyle/>
          <a:p>
            <a:pPr algn="l"/>
            <a:r>
              <a:rPr sz="1500" b="1">
                <a:solidFill>
                  <a:srgbClr val="0B2545"/>
                </a:solidFill>
                <a:latin typeface="Calibri"/>
              </a:rPr>
              <a:t>Evidence location</a:t>
            </a:r>
          </a:p>
        </p:txBody>
      </p:sp>
      <p:sp>
        <p:nvSpPr>
          <p:cNvPr id="31" name="TextBox 30"/>
          <p:cNvSpPr txBox="1"/>
          <p:nvPr/>
        </p:nvSpPr>
        <p:spPr>
          <a:xfrm>
            <a:off x="8110728" y="4800600"/>
            <a:ext cx="3163824" cy="1005840"/>
          </a:xfrm>
          <a:prstGeom prst="rect">
            <a:avLst/>
          </a:prstGeom>
          <a:noFill/>
        </p:spPr>
        <p:txBody>
          <a:bodyPr wrap="square" anchor="t"/>
          <a:lstStyle/>
          <a:p>
            <a:pPr algn="l"/>
            <a:r>
              <a:rPr sz="1300" b="0">
                <a:solidFill>
                  <a:srgbClr val="1C2B3A"/>
                </a:solidFill>
                <a:latin typeface="Calibri"/>
              </a:rPr>
              <a:t>Associates each requirement with the corresponding page or slide.</a:t>
            </a:r>
          </a:p>
        </p:txBody>
      </p:sp>
      <p:sp>
        <p:nvSpPr>
          <p:cNvPr id="32" name="Rectangle 31"/>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34" name="TextBox 33"/>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WORK COMPLETED</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Specification and conformity matrix</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Two functions already available before opening the TDR.</a:t>
            </a:r>
          </a:p>
        </p:txBody>
      </p:sp>
      <p:sp>
        <p:nvSpPr>
          <p:cNvPr id="8" name="Rounded Rectangle 7"/>
          <p:cNvSpPr/>
          <p:nvPr/>
        </p:nvSpPr>
        <p:spPr>
          <a:xfrm>
            <a:off x="411480" y="1389888"/>
            <a:ext cx="5532120" cy="49194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5532120" cy="47548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44752"/>
            <a:ext cx="5212080" cy="384048"/>
          </a:xfrm>
          <a:prstGeom prst="rect">
            <a:avLst/>
          </a:prstGeom>
          <a:noFill/>
        </p:spPr>
        <p:txBody>
          <a:bodyPr wrap="square" anchor="ctr"/>
          <a:lstStyle/>
          <a:p>
            <a:pPr algn="l"/>
            <a:r>
              <a:rPr sz="1800" b="1">
                <a:solidFill>
                  <a:srgbClr val="FFFFFF"/>
                </a:solidFill>
                <a:latin typeface="Calibri"/>
              </a:rPr>
              <a:t>Specification validation</a:t>
            </a:r>
          </a:p>
        </p:txBody>
      </p:sp>
      <p:sp>
        <p:nvSpPr>
          <p:cNvPr id="11" name="TextBox 10"/>
          <p:cNvSpPr txBox="1"/>
          <p:nvPr/>
        </p:nvSpPr>
        <p:spPr>
          <a:xfrm>
            <a:off x="640080" y="2011680"/>
            <a:ext cx="5074920" cy="4023360"/>
          </a:xfrm>
          <a:prstGeom prst="rect">
            <a:avLst/>
          </a:prstGeom>
          <a:noFill/>
        </p:spPr>
        <p:txBody>
          <a:bodyPr wrap="square" anchor="t"/>
          <a:lstStyle/>
          <a:p>
            <a:pPr algn="l"/>
            <a:r>
              <a:rPr sz="1300" b="0">
                <a:solidFill>
                  <a:srgbClr val="1C2B3A"/>
                </a:solidFill>
                <a:latin typeface="Calibri"/>
              </a:rPr>
              <a:t>The CTS file is uploaded (Word, PDF or text).
AERIS verifies:
• mandatory sections (Purpose, Scope, Requirements…);
• remaining placeholders (&lt;&lt;name&gt;&gt;, TBD, XXX);
• requirement identifiers and binding language (“shall”).
Output: a verdict (compliant / acceptable / not ready) and a Word report.
The empty conformity matrix can be generated from the specification.</a:t>
            </a:r>
          </a:p>
        </p:txBody>
      </p:sp>
      <p:sp>
        <p:nvSpPr>
          <p:cNvPr id="12" name="Rounded Rectangle 11"/>
          <p:cNvSpPr/>
          <p:nvPr/>
        </p:nvSpPr>
        <p:spPr>
          <a:xfrm>
            <a:off x="6172200" y="1389888"/>
            <a:ext cx="5532120" cy="49194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89888"/>
            <a:ext cx="5532120" cy="475488"/>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44752"/>
            <a:ext cx="5212080" cy="384048"/>
          </a:xfrm>
          <a:prstGeom prst="rect">
            <a:avLst/>
          </a:prstGeom>
          <a:noFill/>
        </p:spPr>
        <p:txBody>
          <a:bodyPr wrap="square" anchor="ctr"/>
          <a:lstStyle/>
          <a:p>
            <a:pPr algn="l"/>
            <a:r>
              <a:rPr sz="1800" b="1">
                <a:solidFill>
                  <a:srgbClr val="FFFFFF"/>
                </a:solidFill>
                <a:latin typeface="Calibri"/>
              </a:rPr>
              <a:t>Conformity matrix analysis</a:t>
            </a:r>
          </a:p>
        </p:txBody>
      </p:sp>
      <p:sp>
        <p:nvSpPr>
          <p:cNvPr id="15" name="TextBox 14"/>
          <p:cNvSpPr txBox="1"/>
          <p:nvPr/>
        </p:nvSpPr>
        <p:spPr>
          <a:xfrm>
            <a:off x="6400800" y="2011680"/>
            <a:ext cx="5074920" cy="4023360"/>
          </a:xfrm>
          <a:prstGeom prst="rect">
            <a:avLst/>
          </a:prstGeom>
          <a:noFill/>
        </p:spPr>
        <p:txBody>
          <a:bodyPr wrap="square" anchor="t"/>
          <a:lstStyle/>
          <a:p>
            <a:pPr algn="l"/>
            <a:r>
              <a:rPr sz="1300" b="0">
                <a:solidFill>
                  <a:srgbClr val="1C2B3A"/>
                </a:solidFill>
                <a:latin typeface="Calibri"/>
              </a:rPr>
              <a:t>The supplier matrix is uploaded (Excel / ODS).
AERIS counts OK / NOK / NA statuses and lists every requirement.
Each OK comment is reviewed. A point of attention is raised when:
• the comment contradicts the status;
• conformity is partial or still pending.
Output: a colour-coded Excel report for the review meeting.</a:t>
            </a:r>
          </a:p>
        </p:txBody>
      </p:sp>
      <p:sp>
        <p:nvSpPr>
          <p:cNvPr id="16" name="Rectangle 15"/>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18" name="TextBox 17"/>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WORK COMPLETED</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Matrix versus TDR, and supplier comparison</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The TDR is the evidence. AERIS compares the declaration with that evidence.</a:t>
            </a:r>
          </a:p>
        </p:txBody>
      </p:sp>
      <p:sp>
        <p:nvSpPr>
          <p:cNvPr id="8" name="Rounded Rectangle 7"/>
          <p:cNvSpPr/>
          <p:nvPr/>
        </p:nvSpPr>
        <p:spPr>
          <a:xfrm>
            <a:off x="411480" y="1353312"/>
            <a:ext cx="11338560" cy="1170432"/>
          </a:xfrm>
          <a:prstGeom prst="roundRect">
            <a:avLst>
              <a:gd name="adj" fmla="val 8000"/>
            </a:avLst>
          </a:prstGeom>
          <a:solidFill>
            <a:srgbClr val="FBF3E6"/>
          </a:solidFill>
          <a:ln w="12700">
            <a:solidFill>
              <a:srgbClr val="9A5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26464"/>
            <a:ext cx="10972800" cy="256032"/>
          </a:xfrm>
          <a:prstGeom prst="rect">
            <a:avLst/>
          </a:prstGeom>
          <a:noFill/>
        </p:spPr>
        <p:txBody>
          <a:bodyPr wrap="square" anchor="t"/>
          <a:lstStyle/>
          <a:p>
            <a:pPr algn="l"/>
            <a:r>
              <a:rPr sz="1400" b="1">
                <a:solidFill>
                  <a:srgbClr val="9A5B00"/>
                </a:solidFill>
                <a:latin typeface="Calibri"/>
              </a:rPr>
              <a:t>Example of inconsistency — display contrast</a:t>
            </a:r>
          </a:p>
        </p:txBody>
      </p:sp>
      <p:sp>
        <p:nvSpPr>
          <p:cNvPr id="10" name="TextBox 9"/>
          <p:cNvSpPr txBox="1"/>
          <p:nvPr/>
        </p:nvSpPr>
        <p:spPr>
          <a:xfrm>
            <a:off x="640080" y="1719072"/>
            <a:ext cx="10972800" cy="640080"/>
          </a:xfrm>
          <a:prstGeom prst="rect">
            <a:avLst/>
          </a:prstGeom>
          <a:noFill/>
        </p:spPr>
        <p:txBody>
          <a:bodyPr wrap="square" anchor="t"/>
          <a:lstStyle/>
          <a:p>
            <a:pPr algn="l"/>
            <a:r>
              <a:rPr sz="1400" b="0">
                <a:solidFill>
                  <a:srgbClr val="1C2B3A"/>
                </a:solidFill>
                <a:latin typeface="Calibri"/>
              </a:rPr>
              <a:t>Requirement: contrast ≥ 400:1     ·     Matrix: OK     ·     TDR, slide 14: 380:1
Inconsistencies are presented first. Consistent requirements are not listed by default.</a:t>
            </a:r>
          </a:p>
        </p:txBody>
      </p:sp>
      <p:sp>
        <p:nvSpPr>
          <p:cNvPr id="11" name="Rounded Rectangle 10"/>
          <p:cNvSpPr/>
          <p:nvPr/>
        </p:nvSpPr>
        <p:spPr>
          <a:xfrm>
            <a:off x="411480" y="2697480"/>
            <a:ext cx="5532120" cy="3584448"/>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697480"/>
            <a:ext cx="73152" cy="3584448"/>
          </a:xfrm>
          <a:prstGeom prst="rect">
            <a:avLst/>
          </a:prstGeom>
          <a:solidFill>
            <a:srgbClr val="123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2825496"/>
            <a:ext cx="5221224" cy="347472"/>
          </a:xfrm>
          <a:prstGeom prst="rect">
            <a:avLst/>
          </a:prstGeom>
          <a:noFill/>
        </p:spPr>
        <p:txBody>
          <a:bodyPr wrap="square" anchor="t"/>
          <a:lstStyle/>
          <a:p>
            <a:pPr algn="l"/>
            <a:r>
              <a:rPr sz="1600" b="1">
                <a:solidFill>
                  <a:srgbClr val="0B2545"/>
                </a:solidFill>
                <a:latin typeface="Calibri"/>
              </a:rPr>
              <a:t>Matrix ↔ TDR</a:t>
            </a:r>
          </a:p>
        </p:txBody>
      </p:sp>
      <p:sp>
        <p:nvSpPr>
          <p:cNvPr id="14" name="TextBox 13"/>
          <p:cNvSpPr txBox="1"/>
          <p:nvPr/>
        </p:nvSpPr>
        <p:spPr>
          <a:xfrm>
            <a:off x="612648" y="3154680"/>
            <a:ext cx="5221224" cy="2999232"/>
          </a:xfrm>
          <a:prstGeom prst="rect">
            <a:avLst/>
          </a:prstGeom>
          <a:noFill/>
        </p:spPr>
        <p:txBody>
          <a:bodyPr wrap="square" anchor="t"/>
          <a:lstStyle/>
          <a:p>
            <a:pPr algn="l"/>
            <a:r>
              <a:rPr sz="1300" b="0">
                <a:solidFill>
                  <a:srgbClr val="1C2B3A"/>
                </a:solidFill>
                <a:latin typeface="Calibri"/>
              </a:rPr>
              <a:t>The matrix and the TDR (PowerPoint, PDF or Word) are uploaded together.
For each requirement: the Stellantis requirement, the matrix declaration, the TDR statement, and the source page or slide.
The engineer confirms, corrects or requests additional evidence. No result is accepted automatically.</a:t>
            </a:r>
          </a:p>
        </p:txBody>
      </p:sp>
      <p:sp>
        <p:nvSpPr>
          <p:cNvPr id="15" name="Rounded Rectangle 14"/>
          <p:cNvSpPr/>
          <p:nvPr/>
        </p:nvSpPr>
        <p:spPr>
          <a:xfrm>
            <a:off x="6172200" y="2697480"/>
            <a:ext cx="5532120" cy="3584448"/>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697480"/>
            <a:ext cx="73152" cy="3584448"/>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825496"/>
            <a:ext cx="5221224" cy="347472"/>
          </a:xfrm>
          <a:prstGeom prst="rect">
            <a:avLst/>
          </a:prstGeom>
          <a:noFill/>
        </p:spPr>
        <p:txBody>
          <a:bodyPr wrap="square" anchor="t"/>
          <a:lstStyle/>
          <a:p>
            <a:pPr algn="l"/>
            <a:r>
              <a:rPr sz="1600" b="1">
                <a:solidFill>
                  <a:srgbClr val="0B2545"/>
                </a:solidFill>
                <a:latin typeface="Calibri"/>
              </a:rPr>
              <a:t>TDR benchmark</a:t>
            </a:r>
          </a:p>
        </p:txBody>
      </p:sp>
      <p:sp>
        <p:nvSpPr>
          <p:cNvPr id="18" name="TextBox 17"/>
          <p:cNvSpPr txBox="1"/>
          <p:nvPr/>
        </p:nvSpPr>
        <p:spPr>
          <a:xfrm>
            <a:off x="6373368" y="3154680"/>
            <a:ext cx="5221224" cy="2999232"/>
          </a:xfrm>
          <a:prstGeom prst="rect">
            <a:avLst/>
          </a:prstGeom>
          <a:noFill/>
        </p:spPr>
        <p:txBody>
          <a:bodyPr wrap="square" anchor="t"/>
          <a:lstStyle/>
          <a:p>
            <a:pPr algn="l"/>
            <a:r>
              <a:rPr sz="1300" b="0">
                <a:solidFill>
                  <a:srgbClr val="1C2B3A"/>
                </a:solidFill>
                <a:latin typeface="Calibri"/>
              </a:rPr>
              <a:t>Several supplier dossiers are compared on the same technical domains (mechanics, display, electronics, safety, software, validation, industrialisation).
Commercial content is excluded.
Supplier selection remains a human decision.</a:t>
            </a:r>
          </a:p>
        </p:txBody>
      </p:sp>
      <p:sp>
        <p:nvSpPr>
          <p:cNvPr id="19" name="Rectangle 18"/>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21" name="TextBox 20"/>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COLLABORATION</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Working arrangement</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Imane El Brouji and Patrick Garcia provide the mechatronics expertise. I implement AERIS.</a:t>
            </a:r>
          </a:p>
        </p:txBody>
      </p:sp>
      <p:sp>
        <p:nvSpPr>
          <p:cNvPr id="8" name="Rounded Rectangle 7"/>
          <p:cNvSpPr/>
          <p:nvPr/>
        </p:nvSpPr>
        <p:spPr>
          <a:xfrm>
            <a:off x="411480" y="1389888"/>
            <a:ext cx="5532120" cy="31089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553212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45920"/>
            <a:ext cx="5074920" cy="365760"/>
          </a:xfrm>
          <a:prstGeom prst="rect">
            <a:avLst/>
          </a:prstGeom>
          <a:noFill/>
        </p:spPr>
        <p:txBody>
          <a:bodyPr wrap="square" anchor="t"/>
          <a:lstStyle/>
          <a:p>
            <a:pPr algn="l"/>
            <a:r>
              <a:rPr sz="2200" b="1">
                <a:solidFill>
                  <a:srgbClr val="0B2545"/>
                </a:solidFill>
                <a:latin typeface="Calibri"/>
              </a:rPr>
              <a:t>Imane El Brouji</a:t>
            </a:r>
          </a:p>
        </p:txBody>
      </p:sp>
      <p:sp>
        <p:nvSpPr>
          <p:cNvPr id="11" name="TextBox 10"/>
          <p:cNvSpPr txBox="1"/>
          <p:nvPr/>
        </p:nvSpPr>
        <p:spPr>
          <a:xfrm>
            <a:off x="640080" y="2084831"/>
            <a:ext cx="5074920" cy="292608"/>
          </a:xfrm>
          <a:prstGeom prst="rect">
            <a:avLst/>
          </a:prstGeom>
          <a:noFill/>
        </p:spPr>
        <p:txBody>
          <a:bodyPr wrap="square" anchor="t"/>
          <a:lstStyle/>
          <a:p>
            <a:pPr algn="l"/>
            <a:r>
              <a:rPr sz="1400" b="1">
                <a:solidFill>
                  <a:srgbClr val="1D4ED8"/>
                </a:solidFill>
                <a:latin typeface="Calibri"/>
              </a:rPr>
              <a:t>Mechatronics Engineering</a:t>
            </a:r>
          </a:p>
        </p:txBody>
      </p:sp>
      <p:sp>
        <p:nvSpPr>
          <p:cNvPr id="12" name="TextBox 11"/>
          <p:cNvSpPr txBox="1"/>
          <p:nvPr/>
        </p:nvSpPr>
        <p:spPr>
          <a:xfrm>
            <a:off x="640080" y="2514600"/>
            <a:ext cx="5074920" cy="1691640"/>
          </a:xfrm>
          <a:prstGeom prst="rect">
            <a:avLst/>
          </a:prstGeom>
          <a:noFill/>
        </p:spPr>
        <p:txBody>
          <a:bodyPr wrap="square" anchor="t"/>
          <a:lstStyle/>
          <a:p>
            <a:pPr algn="l"/>
            <a:r>
              <a:rPr sz="1500" b="0">
                <a:solidFill>
                  <a:srgbClr val="1C2B3A"/>
                </a:solidFill>
                <a:latin typeface="Calibri"/>
              </a:rPr>
              <a:t>Defines the operational needs of the team, the documents received, and the analyses that are useful during a review.</a:t>
            </a:r>
          </a:p>
        </p:txBody>
      </p:sp>
      <p:sp>
        <p:nvSpPr>
          <p:cNvPr id="13" name="Rounded Rectangle 12"/>
          <p:cNvSpPr/>
          <p:nvPr/>
        </p:nvSpPr>
        <p:spPr>
          <a:xfrm>
            <a:off x="6172200" y="1389888"/>
            <a:ext cx="5532120" cy="310896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389888"/>
            <a:ext cx="5532120" cy="109728"/>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645920"/>
            <a:ext cx="5074920" cy="365760"/>
          </a:xfrm>
          <a:prstGeom prst="rect">
            <a:avLst/>
          </a:prstGeom>
          <a:noFill/>
        </p:spPr>
        <p:txBody>
          <a:bodyPr wrap="square" anchor="t"/>
          <a:lstStyle/>
          <a:p>
            <a:pPr algn="l"/>
            <a:r>
              <a:rPr sz="2200" b="1">
                <a:solidFill>
                  <a:srgbClr val="0B2545"/>
                </a:solidFill>
                <a:latin typeface="Calibri"/>
              </a:rPr>
              <a:t>Patrick Garcia</a:t>
            </a:r>
          </a:p>
        </p:txBody>
      </p:sp>
      <p:sp>
        <p:nvSpPr>
          <p:cNvPr id="16" name="TextBox 15"/>
          <p:cNvSpPr txBox="1"/>
          <p:nvPr/>
        </p:nvSpPr>
        <p:spPr>
          <a:xfrm>
            <a:off x="6400800" y="2084831"/>
            <a:ext cx="5074920" cy="292608"/>
          </a:xfrm>
          <a:prstGeom prst="rect">
            <a:avLst/>
          </a:prstGeom>
          <a:noFill/>
        </p:spPr>
        <p:txBody>
          <a:bodyPr wrap="square" anchor="t"/>
          <a:lstStyle/>
          <a:p>
            <a:pPr algn="l"/>
            <a:r>
              <a:rPr sz="1400" b="1">
                <a:solidFill>
                  <a:srgbClr val="157347"/>
                </a:solidFill>
                <a:latin typeface="Calibri"/>
              </a:rPr>
              <a:t>Mechatronics Engineering</a:t>
            </a:r>
          </a:p>
        </p:txBody>
      </p:sp>
      <p:sp>
        <p:nvSpPr>
          <p:cNvPr id="17" name="TextBox 16"/>
          <p:cNvSpPr txBox="1"/>
          <p:nvPr/>
        </p:nvSpPr>
        <p:spPr>
          <a:xfrm>
            <a:off x="6400800" y="2514600"/>
            <a:ext cx="5074920" cy="1691640"/>
          </a:xfrm>
          <a:prstGeom prst="rect">
            <a:avLst/>
          </a:prstGeom>
          <a:noFill/>
        </p:spPr>
        <p:txBody>
          <a:bodyPr wrap="square" anchor="t"/>
          <a:lstStyle/>
          <a:p>
            <a:pPr algn="l"/>
            <a:r>
              <a:rPr sz="1500" b="0">
                <a:solidFill>
                  <a:srgbClr val="1C2B3A"/>
                </a:solidFill>
                <a:latin typeface="Calibri"/>
              </a:rPr>
              <a:t>Explains the mechatronics context: how the specification, the matrix and the TDR are used, and what a technical review must cover.</a:t>
            </a:r>
          </a:p>
        </p:txBody>
      </p:sp>
      <p:sp>
        <p:nvSpPr>
          <p:cNvPr id="18" name="Rounded Rectangle 17"/>
          <p:cNvSpPr/>
          <p:nvPr/>
        </p:nvSpPr>
        <p:spPr>
          <a:xfrm>
            <a:off x="411480" y="4681728"/>
            <a:ext cx="11292840" cy="1664208"/>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681728"/>
            <a:ext cx="109728" cy="1664208"/>
          </a:xfrm>
          <a:prstGeom prst="rect">
            <a:avLst/>
          </a:prstGeom>
          <a:solidFill>
            <a:srgbClr val="123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28032"/>
            <a:ext cx="10698480" cy="329184"/>
          </a:xfrm>
          <a:prstGeom prst="rect">
            <a:avLst/>
          </a:prstGeom>
          <a:noFill/>
        </p:spPr>
        <p:txBody>
          <a:bodyPr wrap="square" anchor="t"/>
          <a:lstStyle/>
          <a:p>
            <a:pPr algn="l"/>
            <a:r>
              <a:rPr sz="1600" b="1">
                <a:solidFill>
                  <a:srgbClr val="0B2545"/>
                </a:solidFill>
                <a:latin typeface="Calibri"/>
              </a:rPr>
              <a:t>Division of roles</a:t>
            </a:r>
          </a:p>
        </p:txBody>
      </p:sp>
      <p:sp>
        <p:nvSpPr>
          <p:cNvPr id="21" name="TextBox 20"/>
          <p:cNvSpPr txBox="1"/>
          <p:nvPr/>
        </p:nvSpPr>
        <p:spPr>
          <a:xfrm>
            <a:off x="731520" y="5212080"/>
            <a:ext cx="10698480" cy="914400"/>
          </a:xfrm>
          <a:prstGeom prst="rect">
            <a:avLst/>
          </a:prstGeom>
          <a:noFill/>
        </p:spPr>
        <p:txBody>
          <a:bodyPr wrap="square" anchor="t"/>
          <a:lstStyle/>
          <a:p>
            <a:pPr algn="l"/>
            <a:r>
              <a:rPr sz="1500" b="0">
                <a:solidFill>
                  <a:srgbClr val="1C2B3A"/>
                </a:solidFill>
                <a:latin typeface="Calibri"/>
              </a:rPr>
              <a:t>They provide the ideas and the technical meaning on the mechatronics side. I develop and iterate on AERIS. The application is designed from engineering practice, not as a standalone IT development.</a:t>
            </a:r>
          </a:p>
        </p:txBody>
      </p:sp>
      <p:sp>
        <p:nvSpPr>
          <p:cNvPr id="22" name="Rectangle 21"/>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24" name="TextBox 23"/>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STATUS</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Development in progress — then team deployment</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The whole team will have access once this phase is completed.</a:t>
            </a:r>
          </a:p>
        </p:txBody>
      </p:sp>
      <p:sp>
        <p:nvSpPr>
          <p:cNvPr id="8" name="Rounded Rectangle 7"/>
          <p:cNvSpPr/>
          <p:nvPr/>
        </p:nvSpPr>
        <p:spPr>
          <a:xfrm>
            <a:off x="411480" y="1417320"/>
            <a:ext cx="3703320" cy="365760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417320"/>
            <a:ext cx="3703320"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3246120" cy="329184"/>
          </a:xfrm>
          <a:prstGeom prst="rect">
            <a:avLst/>
          </a:prstGeom>
          <a:noFill/>
        </p:spPr>
        <p:txBody>
          <a:bodyPr wrap="square" anchor="t"/>
          <a:lstStyle/>
          <a:p>
            <a:pPr algn="l"/>
            <a:r>
              <a:rPr sz="1300" b="1">
                <a:solidFill>
                  <a:srgbClr val="1D4ED8"/>
                </a:solidFill>
                <a:latin typeface="Calibri"/>
              </a:rPr>
              <a:t>01  Now</a:t>
            </a:r>
          </a:p>
        </p:txBody>
      </p:sp>
      <p:sp>
        <p:nvSpPr>
          <p:cNvPr id="11" name="TextBox 10"/>
          <p:cNvSpPr txBox="1"/>
          <p:nvPr/>
        </p:nvSpPr>
        <p:spPr>
          <a:xfrm>
            <a:off x="640080" y="2084831"/>
            <a:ext cx="3246120" cy="731520"/>
          </a:xfrm>
          <a:prstGeom prst="rect">
            <a:avLst/>
          </a:prstGeom>
          <a:noFill/>
        </p:spPr>
        <p:txBody>
          <a:bodyPr wrap="square" anchor="t"/>
          <a:lstStyle/>
          <a:p>
            <a:pPr algn="l"/>
            <a:r>
              <a:rPr sz="2200" b="1">
                <a:solidFill>
                  <a:srgbClr val="0B2545"/>
                </a:solidFill>
                <a:latin typeface="Calibri"/>
              </a:rPr>
              <a:t>In progress</a:t>
            </a:r>
          </a:p>
        </p:txBody>
      </p:sp>
      <p:sp>
        <p:nvSpPr>
          <p:cNvPr id="12" name="TextBox 11"/>
          <p:cNvSpPr txBox="1"/>
          <p:nvPr/>
        </p:nvSpPr>
        <p:spPr>
          <a:xfrm>
            <a:off x="640080" y="2926080"/>
            <a:ext cx="3246120" cy="1874519"/>
          </a:xfrm>
          <a:prstGeom prst="rect">
            <a:avLst/>
          </a:prstGeom>
          <a:noFill/>
        </p:spPr>
        <p:txBody>
          <a:bodyPr wrap="square" anchor="t"/>
          <a:lstStyle/>
          <a:p>
            <a:pPr algn="l"/>
            <a:r>
              <a:rPr sz="1400" b="0">
                <a:solidFill>
                  <a:srgbClr val="1C2B3A"/>
                </a:solidFill>
                <a:latin typeface="Calibri"/>
              </a:rPr>
              <a:t>Completion of the functions presented: specification, matrix, Matrix ↔ TDR and TDR benchmark.</a:t>
            </a:r>
          </a:p>
        </p:txBody>
      </p:sp>
      <p:sp>
        <p:nvSpPr>
          <p:cNvPr id="13" name="Rounded Rectangle 12"/>
          <p:cNvSpPr/>
          <p:nvPr/>
        </p:nvSpPr>
        <p:spPr>
          <a:xfrm>
            <a:off x="4251960" y="1417320"/>
            <a:ext cx="3703320" cy="365760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417320"/>
            <a:ext cx="3703320" cy="109728"/>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691640"/>
            <a:ext cx="3246120" cy="329184"/>
          </a:xfrm>
          <a:prstGeom prst="rect">
            <a:avLst/>
          </a:prstGeom>
          <a:noFill/>
        </p:spPr>
        <p:txBody>
          <a:bodyPr wrap="square" anchor="t"/>
          <a:lstStyle/>
          <a:p>
            <a:pPr algn="l"/>
            <a:r>
              <a:rPr sz="1300" b="1">
                <a:solidFill>
                  <a:srgbClr val="9A5B00"/>
                </a:solidFill>
                <a:latin typeface="Calibri"/>
              </a:rPr>
              <a:t>02  Next</a:t>
            </a:r>
          </a:p>
        </p:txBody>
      </p:sp>
      <p:sp>
        <p:nvSpPr>
          <p:cNvPr id="16" name="TextBox 15"/>
          <p:cNvSpPr txBox="1"/>
          <p:nvPr/>
        </p:nvSpPr>
        <p:spPr>
          <a:xfrm>
            <a:off x="4480560" y="2084831"/>
            <a:ext cx="3246120" cy="731520"/>
          </a:xfrm>
          <a:prstGeom prst="rect">
            <a:avLst/>
          </a:prstGeom>
          <a:noFill/>
        </p:spPr>
        <p:txBody>
          <a:bodyPr wrap="square" anchor="t"/>
          <a:lstStyle/>
          <a:p>
            <a:pPr algn="l"/>
            <a:r>
              <a:rPr sz="2200" b="1">
                <a:solidFill>
                  <a:srgbClr val="0B2545"/>
                </a:solidFill>
                <a:latin typeface="Calibri"/>
              </a:rPr>
              <a:t>Close this phase</a:t>
            </a:r>
          </a:p>
        </p:txBody>
      </p:sp>
      <p:sp>
        <p:nvSpPr>
          <p:cNvPr id="17" name="TextBox 16"/>
          <p:cNvSpPr txBox="1"/>
          <p:nvPr/>
        </p:nvSpPr>
        <p:spPr>
          <a:xfrm>
            <a:off x="4480560" y="2926080"/>
            <a:ext cx="3246120" cy="1874519"/>
          </a:xfrm>
          <a:prstGeom prst="rect">
            <a:avLst/>
          </a:prstGeom>
          <a:noFill/>
        </p:spPr>
        <p:txBody>
          <a:bodyPr wrap="square" anchor="t"/>
          <a:lstStyle/>
          <a:p>
            <a:pPr algn="l"/>
            <a:r>
              <a:rPr sz="1400" b="0">
                <a:solidFill>
                  <a:srgbClr val="1C2B3A"/>
                </a:solidFill>
                <a:latin typeface="Calibri"/>
              </a:rPr>
              <a:t>Remaining development, tests on representative files, alignment with Imane El Brouji and Patrick Garcia.</a:t>
            </a:r>
          </a:p>
        </p:txBody>
      </p:sp>
      <p:sp>
        <p:nvSpPr>
          <p:cNvPr id="18" name="Rounded Rectangle 17"/>
          <p:cNvSpPr/>
          <p:nvPr/>
        </p:nvSpPr>
        <p:spPr>
          <a:xfrm>
            <a:off x="8092440" y="1417320"/>
            <a:ext cx="3703320" cy="365760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417320"/>
            <a:ext cx="3703320" cy="109728"/>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691640"/>
            <a:ext cx="3246120" cy="329184"/>
          </a:xfrm>
          <a:prstGeom prst="rect">
            <a:avLst/>
          </a:prstGeom>
          <a:noFill/>
        </p:spPr>
        <p:txBody>
          <a:bodyPr wrap="square" anchor="t"/>
          <a:lstStyle/>
          <a:p>
            <a:pPr algn="l"/>
            <a:r>
              <a:rPr sz="1300" b="1">
                <a:solidFill>
                  <a:srgbClr val="157347"/>
                </a:solidFill>
                <a:latin typeface="Calibri"/>
              </a:rPr>
              <a:t>03  Then</a:t>
            </a:r>
          </a:p>
        </p:txBody>
      </p:sp>
      <p:sp>
        <p:nvSpPr>
          <p:cNvPr id="21" name="TextBox 20"/>
          <p:cNvSpPr txBox="1"/>
          <p:nvPr/>
        </p:nvSpPr>
        <p:spPr>
          <a:xfrm>
            <a:off x="8321040" y="2084831"/>
            <a:ext cx="3246120" cy="731520"/>
          </a:xfrm>
          <a:prstGeom prst="rect">
            <a:avLst/>
          </a:prstGeom>
          <a:noFill/>
        </p:spPr>
        <p:txBody>
          <a:bodyPr wrap="square" anchor="t"/>
          <a:lstStyle/>
          <a:p>
            <a:pPr algn="l"/>
            <a:r>
              <a:rPr sz="2200" b="1">
                <a:solidFill>
                  <a:srgbClr val="0B2545"/>
                </a:solidFill>
                <a:latin typeface="Calibri"/>
              </a:rPr>
              <a:t>Deployment</a:t>
            </a:r>
          </a:p>
        </p:txBody>
      </p:sp>
      <p:sp>
        <p:nvSpPr>
          <p:cNvPr id="22" name="TextBox 21"/>
          <p:cNvSpPr txBox="1"/>
          <p:nvPr/>
        </p:nvSpPr>
        <p:spPr>
          <a:xfrm>
            <a:off x="8321040" y="2926080"/>
            <a:ext cx="3246120" cy="1874519"/>
          </a:xfrm>
          <a:prstGeom prst="rect">
            <a:avLst/>
          </a:prstGeom>
          <a:noFill/>
        </p:spPr>
        <p:txBody>
          <a:bodyPr wrap="square" anchor="t"/>
          <a:lstStyle/>
          <a:p>
            <a:pPr algn="l"/>
            <a:r>
              <a:rPr sz="1400" b="0">
                <a:solidFill>
                  <a:srgbClr val="1C2B3A"/>
                </a:solidFill>
                <a:latin typeface="Calibri"/>
              </a:rPr>
              <a:t>Deployment will start so that Mechatronics Engineering can open AERIS in a browser, without installation.</a:t>
            </a:r>
          </a:p>
        </p:txBody>
      </p:sp>
      <p:sp>
        <p:nvSpPr>
          <p:cNvPr id="23" name="Rounded Rectangle 22"/>
          <p:cNvSpPr/>
          <p:nvPr/>
        </p:nvSpPr>
        <p:spPr>
          <a:xfrm>
            <a:off x="411480" y="5257800"/>
            <a:ext cx="11292840" cy="1097280"/>
          </a:xfrm>
          <a:prstGeom prst="roundRect">
            <a:avLst>
              <a:gd name="adj" fmla="val 8000"/>
            </a:avLst>
          </a:prstGeom>
          <a:solidFill>
            <a:srgbClr val="E8F5EE"/>
          </a:solidFill>
          <a:ln w="12700">
            <a:solidFill>
              <a:srgbClr val="157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413248"/>
            <a:ext cx="10881360" cy="822960"/>
          </a:xfrm>
          <a:prstGeom prst="rect">
            <a:avLst/>
          </a:prstGeom>
          <a:noFill/>
        </p:spPr>
        <p:txBody>
          <a:bodyPr wrap="square" anchor="t"/>
          <a:lstStyle/>
          <a:p>
            <a:pPr algn="l"/>
            <a:r>
              <a:rPr sz="1600" b="1">
                <a:solidFill>
                  <a:srgbClr val="0B2545"/>
                </a:solidFill>
                <a:latin typeface="Calibri"/>
              </a:rPr>
              <a:t>Target: any colleague who reviews a specification, a matrix or a TDR can use AERIS.</a:t>
            </a:r>
          </a:p>
        </p:txBody>
      </p:sp>
      <p:sp>
        <p:nvSpPr>
          <p:cNvPr id="25" name="Rectangle 24"/>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27" name="TextBox 26"/>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UPCOMING TRAINING</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AI training for the Mechatronics team</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Operational training on the use of AI in daily document review.</a:t>
            </a:r>
          </a:p>
        </p:txBody>
      </p:sp>
      <p:sp>
        <p:nvSpPr>
          <p:cNvPr id="8" name="Rounded Rectangle 7"/>
          <p:cNvSpPr/>
          <p:nvPr/>
        </p:nvSpPr>
        <p:spPr>
          <a:xfrm>
            <a:off x="411480" y="1389888"/>
            <a:ext cx="5532120" cy="49194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73152" cy="491947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517904"/>
            <a:ext cx="5221224" cy="347472"/>
          </a:xfrm>
          <a:prstGeom prst="rect">
            <a:avLst/>
          </a:prstGeom>
          <a:noFill/>
        </p:spPr>
        <p:txBody>
          <a:bodyPr wrap="square" anchor="t"/>
          <a:lstStyle/>
          <a:p>
            <a:pPr algn="l"/>
            <a:r>
              <a:rPr sz="1800" b="1">
                <a:solidFill>
                  <a:srgbClr val="0B2545"/>
                </a:solidFill>
                <a:latin typeface="Calibri"/>
              </a:rPr>
              <a:t>Objectives</a:t>
            </a:r>
          </a:p>
        </p:txBody>
      </p:sp>
      <p:sp>
        <p:nvSpPr>
          <p:cNvPr id="11" name="TextBox 10"/>
          <p:cNvSpPr txBox="1"/>
          <p:nvPr/>
        </p:nvSpPr>
        <p:spPr>
          <a:xfrm>
            <a:off x="612648" y="1847088"/>
            <a:ext cx="5221224" cy="4334256"/>
          </a:xfrm>
          <a:prstGeom prst="rect">
            <a:avLst/>
          </a:prstGeom>
          <a:noFill/>
        </p:spPr>
        <p:txBody>
          <a:bodyPr wrap="square" anchor="t"/>
          <a:lstStyle/>
          <a:p>
            <a:pPr algn="l"/>
            <a:r>
              <a:rPr sz="1400" b="0">
                <a:solidFill>
                  <a:srgbClr val="1C2B3A"/>
                </a:solidFill>
                <a:latin typeface="Calibri"/>
              </a:rPr>
              <a:t>Clarify what AI can and cannot do on specifications, matrices and TDR files.
Position AERIS as a first analysis, not as a substitute for the engineer.
Establish a common practice: where AI reduces review time, and where a technical decision is required.
Use examples drawn from mechatronics documents.</a:t>
            </a:r>
          </a:p>
        </p:txBody>
      </p:sp>
      <p:sp>
        <p:nvSpPr>
          <p:cNvPr id="12" name="Rounded Rectangle 11"/>
          <p:cNvSpPr/>
          <p:nvPr/>
        </p:nvSpPr>
        <p:spPr>
          <a:xfrm>
            <a:off x="6172200" y="1389888"/>
            <a:ext cx="5532120" cy="4919472"/>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89888"/>
            <a:ext cx="73152" cy="4919472"/>
          </a:xfrm>
          <a:prstGeom prst="rect">
            <a:avLst/>
          </a:prstGeom>
          <a:solidFill>
            <a:srgbClr val="157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517904"/>
            <a:ext cx="5221224" cy="347472"/>
          </a:xfrm>
          <a:prstGeom prst="rect">
            <a:avLst/>
          </a:prstGeom>
          <a:noFill/>
        </p:spPr>
        <p:txBody>
          <a:bodyPr wrap="square" anchor="t"/>
          <a:lstStyle/>
          <a:p>
            <a:pPr algn="l"/>
            <a:r>
              <a:rPr sz="1800" b="1">
                <a:solidFill>
                  <a:srgbClr val="0B2545"/>
                </a:solidFill>
                <a:latin typeface="Calibri"/>
              </a:rPr>
              <a:t>Expected use in the team</a:t>
            </a:r>
          </a:p>
        </p:txBody>
      </p:sp>
      <p:sp>
        <p:nvSpPr>
          <p:cNvPr id="15" name="TextBox 14"/>
          <p:cNvSpPr txBox="1"/>
          <p:nvPr/>
        </p:nvSpPr>
        <p:spPr>
          <a:xfrm>
            <a:off x="6373368" y="1847088"/>
            <a:ext cx="5221224" cy="4334256"/>
          </a:xfrm>
          <a:prstGeom prst="rect">
            <a:avLst/>
          </a:prstGeom>
          <a:noFill/>
        </p:spPr>
        <p:txBody>
          <a:bodyPr wrap="square" anchor="t"/>
          <a:lstStyle/>
          <a:p>
            <a:pPr algn="l"/>
            <a:r>
              <a:rPr sz="1400" b="0">
                <a:solidFill>
                  <a:srgbClr val="1C2B3A"/>
                </a:solidFill>
                <a:latin typeface="Calibri"/>
              </a:rPr>
              <a:t>Faster preparation of a TDR review.
Fewer OK declarations accepted despite a contradictory comment.
Structured comparison of several suppliers on technical criteria.
Rule of use: the application proposes; the engineer validates.
A short feedback to the team can be prepared after the training.</a:t>
            </a:r>
          </a:p>
        </p:txBody>
      </p:sp>
      <p:sp>
        <p:nvSpPr>
          <p:cNvPr id="16" name="Rectangle 15"/>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18" name="TextBox 17"/>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
            <a:ext cx="11247120" cy="256032"/>
          </a:xfrm>
          <a:prstGeom prst="rect">
            <a:avLst/>
          </a:prstGeom>
          <a:noFill/>
        </p:spPr>
        <p:txBody>
          <a:bodyPr wrap="square" anchor="t"/>
          <a:lstStyle/>
          <a:p>
            <a:pPr algn="l"/>
            <a:r>
              <a:rPr sz="1100" b="1">
                <a:solidFill>
                  <a:srgbClr val="A9BCD4"/>
                </a:solidFill>
                <a:latin typeface="Calibri"/>
              </a:rPr>
              <a:t>WORKING ARRANGEMENTS</a:t>
            </a:r>
          </a:p>
        </p:txBody>
      </p:sp>
      <p:sp>
        <p:nvSpPr>
          <p:cNvPr id="6" name="TextBox 5"/>
          <p:cNvSpPr txBox="1"/>
          <p:nvPr/>
        </p:nvSpPr>
        <p:spPr>
          <a:xfrm>
            <a:off x="457200" y="310896"/>
            <a:ext cx="11247120" cy="384048"/>
          </a:xfrm>
          <a:prstGeom prst="rect">
            <a:avLst/>
          </a:prstGeom>
          <a:noFill/>
        </p:spPr>
        <p:txBody>
          <a:bodyPr wrap="square" anchor="t"/>
          <a:lstStyle/>
          <a:p>
            <a:pPr algn="l"/>
            <a:r>
              <a:rPr sz="2600" b="1">
                <a:solidFill>
                  <a:srgbClr val="FFFFFF"/>
                </a:solidFill>
                <a:latin typeface="Calibri"/>
              </a:rPr>
              <a:t>Points submitted for confirmation</a:t>
            </a:r>
          </a:p>
        </p:txBody>
      </p:sp>
      <p:sp>
        <p:nvSpPr>
          <p:cNvPr id="7" name="TextBox 6"/>
          <p:cNvSpPr txBox="1"/>
          <p:nvPr/>
        </p:nvSpPr>
        <p:spPr>
          <a:xfrm>
            <a:off x="457200" y="713232"/>
            <a:ext cx="11247120" cy="292608"/>
          </a:xfrm>
          <a:prstGeom prst="rect">
            <a:avLst/>
          </a:prstGeom>
          <a:noFill/>
        </p:spPr>
        <p:txBody>
          <a:bodyPr wrap="square" anchor="t"/>
          <a:lstStyle/>
          <a:p>
            <a:pPr algn="l"/>
            <a:r>
              <a:rPr sz="1300" b="0">
                <a:solidFill>
                  <a:srgbClr val="C5D4E8"/>
                </a:solidFill>
                <a:latin typeface="Calibri"/>
              </a:rPr>
              <a:t>Télétravail and first school period.</a:t>
            </a:r>
          </a:p>
        </p:txBody>
      </p:sp>
      <p:sp>
        <p:nvSpPr>
          <p:cNvPr id="8" name="Rounded Rectangle 7"/>
          <p:cNvSpPr/>
          <p:nvPr/>
        </p:nvSpPr>
        <p:spPr>
          <a:xfrm>
            <a:off x="411480" y="1389888"/>
            <a:ext cx="5532120" cy="338328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5532120" cy="47548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44752"/>
            <a:ext cx="5212080" cy="384048"/>
          </a:xfrm>
          <a:prstGeom prst="rect">
            <a:avLst/>
          </a:prstGeom>
          <a:noFill/>
        </p:spPr>
        <p:txBody>
          <a:bodyPr wrap="square" anchor="ctr"/>
          <a:lstStyle/>
          <a:p>
            <a:pPr algn="l"/>
            <a:r>
              <a:rPr sz="1800" b="1">
                <a:solidFill>
                  <a:srgbClr val="FFFFFF"/>
                </a:solidFill>
                <a:latin typeface="Calibri"/>
              </a:rPr>
              <a:t>Télétravail (TT)</a:t>
            </a:r>
          </a:p>
        </p:txBody>
      </p:sp>
      <p:sp>
        <p:nvSpPr>
          <p:cNvPr id="11" name="TextBox 10"/>
          <p:cNvSpPr txBox="1"/>
          <p:nvPr/>
        </p:nvSpPr>
        <p:spPr>
          <a:xfrm>
            <a:off x="640080" y="2057400"/>
            <a:ext cx="5074920" cy="2468880"/>
          </a:xfrm>
          <a:prstGeom prst="rect">
            <a:avLst/>
          </a:prstGeom>
          <a:noFill/>
        </p:spPr>
        <p:txBody>
          <a:bodyPr wrap="square" anchor="t"/>
          <a:lstStyle/>
          <a:p>
            <a:pPr algn="l"/>
            <a:r>
              <a:rPr sz="1600" b="0">
                <a:solidFill>
                  <a:srgbClr val="1C2B3A"/>
                </a:solidFill>
                <a:latin typeface="Calibri"/>
              </a:rPr>
              <a:t>Proposed weekly pattern: two days of télétravail.
• Wednesday
• Friday
Submitted for confirmation, so that on-site presence is clear for the team.</a:t>
            </a:r>
          </a:p>
        </p:txBody>
      </p:sp>
      <p:sp>
        <p:nvSpPr>
          <p:cNvPr id="12" name="Rounded Rectangle 11"/>
          <p:cNvSpPr/>
          <p:nvPr/>
        </p:nvSpPr>
        <p:spPr>
          <a:xfrm>
            <a:off x="6172200" y="1389888"/>
            <a:ext cx="5532120" cy="3383280"/>
          </a:xfrm>
          <a:prstGeom prst="roundRect">
            <a:avLst>
              <a:gd name="adj" fmla="val 8000"/>
            </a:avLst>
          </a:prstGeom>
          <a:solidFill>
            <a:srgbClr val="FFFFFF"/>
          </a:solidFill>
          <a:ln w="1270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89888"/>
            <a:ext cx="5532120" cy="475488"/>
          </a:xfrm>
          <a:prstGeom prst="rect">
            <a:avLst/>
          </a:prstGeom>
          <a:solidFill>
            <a:srgbClr val="9A5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44752"/>
            <a:ext cx="5212080" cy="384048"/>
          </a:xfrm>
          <a:prstGeom prst="rect">
            <a:avLst/>
          </a:prstGeom>
          <a:noFill/>
        </p:spPr>
        <p:txBody>
          <a:bodyPr wrap="square" anchor="ctr"/>
          <a:lstStyle/>
          <a:p>
            <a:pPr algn="l"/>
            <a:r>
              <a:rPr sz="1800" b="1">
                <a:solidFill>
                  <a:srgbClr val="FFFFFF"/>
                </a:solidFill>
                <a:latin typeface="Calibri"/>
              </a:rPr>
              <a:t>Période école</a:t>
            </a:r>
          </a:p>
        </p:txBody>
      </p:sp>
      <p:sp>
        <p:nvSpPr>
          <p:cNvPr id="15" name="TextBox 14"/>
          <p:cNvSpPr txBox="1"/>
          <p:nvPr/>
        </p:nvSpPr>
        <p:spPr>
          <a:xfrm>
            <a:off x="6400800" y="2057400"/>
            <a:ext cx="5074920" cy="2468880"/>
          </a:xfrm>
          <a:prstGeom prst="rect">
            <a:avLst/>
          </a:prstGeom>
          <a:noFill/>
        </p:spPr>
        <p:txBody>
          <a:bodyPr wrap="square" anchor="t"/>
          <a:lstStyle/>
          <a:p>
            <a:pPr algn="l"/>
            <a:r>
              <a:rPr sz="1600" b="0">
                <a:solidFill>
                  <a:srgbClr val="1C2B3A"/>
                </a:solidFill>
                <a:latin typeface="Calibri"/>
              </a:rPr>
              <a:t>The next two weeks correspond to the first school period (période école).
Presence on site is not planned during that period.
The usual company / TT pattern resumes afterwards.</a:t>
            </a:r>
          </a:p>
        </p:txBody>
      </p:sp>
      <p:sp>
        <p:nvSpPr>
          <p:cNvPr id="16" name="Rounded Rectangle 15"/>
          <p:cNvSpPr/>
          <p:nvPr/>
        </p:nvSpPr>
        <p:spPr>
          <a:xfrm>
            <a:off x="411480" y="4956048"/>
            <a:ext cx="11292840" cy="1389888"/>
          </a:xfrm>
          <a:prstGeom prst="roundRect">
            <a:avLst>
              <a:gd name="adj" fmla="val 8000"/>
            </a:avLst>
          </a:prstGeom>
          <a:solidFill>
            <a:srgbClr val="FBF3E6"/>
          </a:solidFill>
          <a:ln w="12700">
            <a:solidFill>
              <a:srgbClr val="9A5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102352"/>
            <a:ext cx="10881360" cy="329184"/>
          </a:xfrm>
          <a:prstGeom prst="rect">
            <a:avLst/>
          </a:prstGeom>
          <a:noFill/>
        </p:spPr>
        <p:txBody>
          <a:bodyPr wrap="square" anchor="t"/>
          <a:lstStyle/>
          <a:p>
            <a:pPr algn="l"/>
            <a:r>
              <a:rPr sz="1600" b="1">
                <a:solidFill>
                  <a:srgbClr val="9A5B00"/>
                </a:solidFill>
                <a:latin typeface="Calibri"/>
              </a:rPr>
              <a:t>Submitted for your confirmation</a:t>
            </a:r>
          </a:p>
        </p:txBody>
      </p:sp>
      <p:sp>
        <p:nvSpPr>
          <p:cNvPr id="18" name="TextBox 17"/>
          <p:cNvSpPr txBox="1"/>
          <p:nvPr/>
        </p:nvSpPr>
        <p:spPr>
          <a:xfrm>
            <a:off x="640080" y="5486400"/>
            <a:ext cx="10881360" cy="658368"/>
          </a:xfrm>
          <a:prstGeom prst="rect">
            <a:avLst/>
          </a:prstGeom>
          <a:noFill/>
        </p:spPr>
        <p:txBody>
          <a:bodyPr wrap="square" anchor="t"/>
          <a:lstStyle/>
          <a:p>
            <a:pPr algn="l"/>
            <a:r>
              <a:rPr sz="1500" b="0">
                <a:solidFill>
                  <a:srgbClr val="1C2B3A"/>
                </a:solidFill>
                <a:latin typeface="Calibri"/>
              </a:rPr>
              <a:t>Both points can be adjusted if a different organisation is required.</a:t>
            </a:r>
          </a:p>
        </p:txBody>
      </p:sp>
      <p:sp>
        <p:nvSpPr>
          <p:cNvPr id="19" name="Rectangle 18"/>
          <p:cNvSpPr/>
          <p:nvPr/>
        </p:nvSpPr>
        <p:spPr>
          <a:xfrm>
            <a:off x="0" y="6601968"/>
            <a:ext cx="12191695" cy="2560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601968"/>
            <a:ext cx="9144000" cy="256032"/>
          </a:xfrm>
          <a:prstGeom prst="rect">
            <a:avLst/>
          </a:prstGeom>
          <a:noFill/>
        </p:spPr>
        <p:txBody>
          <a:bodyPr wrap="square" anchor="ctr"/>
          <a:lstStyle/>
          <a:p>
            <a:pPr algn="l"/>
            <a:r>
              <a:rPr sz="1100" b="0">
                <a:solidFill>
                  <a:srgbClr val="A9BCD4"/>
                </a:solidFill>
                <a:latin typeface="Calibri"/>
              </a:rPr>
              <a:t>AERIS  ·  Mechatronics Engineering  ·  Confidential</a:t>
            </a:r>
          </a:p>
        </p:txBody>
      </p:sp>
      <p:sp>
        <p:nvSpPr>
          <p:cNvPr id="21" name="TextBox 20"/>
          <p:cNvSpPr txBox="1"/>
          <p:nvPr/>
        </p:nvSpPr>
        <p:spPr>
          <a:xfrm>
            <a:off x="10424160" y="6601968"/>
            <a:ext cx="1371600" cy="256032"/>
          </a:xfrm>
          <a:prstGeom prst="rect">
            <a:avLst/>
          </a:prstGeom>
          <a:noFill/>
        </p:spPr>
        <p:txBody>
          <a:bodyPr wrap="square" anchor="ctr"/>
          <a:lstStyle/>
          <a:p>
            <a:pPr algn="r"/>
            <a:r>
              <a:rPr sz="1100" b="0">
                <a:solidFill>
                  <a:srgbClr val="FFFFFF"/>
                </a:solidFill>
                <a:latin typeface="Calibr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